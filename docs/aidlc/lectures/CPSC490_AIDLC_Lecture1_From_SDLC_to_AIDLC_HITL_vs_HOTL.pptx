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9220200" cy="6934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14" y="64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young Seop Shin" userId="f2ba2a935e95c03a" providerId="LiveId" clId="{11050786-4135-465F-A8C1-70F97DC79668}"/>
    <pc:docChg chg="modSld">
      <pc:chgData name="Kyoung Seop Shin" userId="f2ba2a935e95c03a" providerId="LiveId" clId="{11050786-4135-465F-A8C1-70F97DC79668}" dt="2026-08-10T18:25:31.322" v="1" actId="14100"/>
      <pc:docMkLst>
        <pc:docMk/>
      </pc:docMkLst>
      <pc:sldChg chg="modSp mod">
        <pc:chgData name="Kyoung Seop Shin" userId="f2ba2a935e95c03a" providerId="LiveId" clId="{11050786-4135-465F-A8C1-70F97DC79668}" dt="2026-08-10T18:25:31.322" v="1" actId="14100"/>
        <pc:sldMkLst>
          <pc:docMk/>
          <pc:sldMk cId="0" sldId="256"/>
        </pc:sldMkLst>
        <pc:spChg chg="mod">
          <ac:chgData name="Kyoung Seop Shin" userId="f2ba2a935e95c03a" providerId="LiveId" clId="{11050786-4135-465F-A8C1-70F97DC79668}" dt="2026-08-10T18:25:31.322" v="1" actId="14100"/>
          <ac:spMkLst>
            <pc:docMk/>
            <pc:sldMk cId="0" sldId="256"/>
            <ac:spMk id="2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B4BBF73-BFE4-9675-AF97-BCBB5DD951B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3995420" cy="347914"/>
          </a:xfrm>
          <a:prstGeom prst="rect">
            <a:avLst/>
          </a:prstGeom>
        </p:spPr>
        <p:txBody>
          <a:bodyPr vert="horz" lIns="92309" tIns="46154" rIns="92309" bIns="46154" rtlCol="0"/>
          <a:lstStyle>
            <a:lvl1pPr algn="l">
              <a:defRPr sz="1200"/>
            </a:lvl1pPr>
          </a:lstStyle>
          <a:p>
            <a:r>
              <a:rPr lang="en-US"/>
              <a:t>Cal State Fullerton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B348BF-5159-860D-10C2-C403B131218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222646" y="1"/>
            <a:ext cx="3995420" cy="347914"/>
          </a:xfrm>
          <a:prstGeom prst="rect">
            <a:avLst/>
          </a:prstGeom>
        </p:spPr>
        <p:txBody>
          <a:bodyPr vert="horz" lIns="92309" tIns="46154" rIns="92309" bIns="46154" rtlCol="0"/>
          <a:lstStyle>
            <a:lvl1pPr algn="r">
              <a:defRPr sz="1200"/>
            </a:lvl1pPr>
          </a:lstStyle>
          <a:p>
            <a:fld id="{235382CB-D6B4-48E5-AFFD-4242D787BD27}" type="datetime2">
              <a:rPr lang="en-US" smtClean="0"/>
              <a:t>Monday, August 10,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461FAE-A38B-F089-F551-02119E94362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86287"/>
            <a:ext cx="3995420" cy="347913"/>
          </a:xfrm>
          <a:prstGeom prst="rect">
            <a:avLst/>
          </a:prstGeom>
        </p:spPr>
        <p:txBody>
          <a:bodyPr vert="horz" lIns="92309" tIns="46154" rIns="92309" bIns="46154" rtlCol="0" anchor="b"/>
          <a:lstStyle>
            <a:lvl1pPr algn="l">
              <a:defRPr sz="1200"/>
            </a:lvl1pPr>
          </a:lstStyle>
          <a:p>
            <a:r>
              <a:rPr lang="en-US"/>
              <a:t>PowerPoint Name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E757FF-1DEF-1FD8-299F-05A2B93DBD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222646" y="6586287"/>
            <a:ext cx="3995420" cy="347913"/>
          </a:xfrm>
          <a:prstGeom prst="rect">
            <a:avLst/>
          </a:prstGeom>
        </p:spPr>
        <p:txBody>
          <a:bodyPr vert="horz" lIns="92309" tIns="46154" rIns="92309" bIns="46154" rtlCol="0" anchor="b"/>
          <a:lstStyle>
            <a:lvl1pPr algn="r">
              <a:defRPr sz="1200"/>
            </a:lvl1pPr>
          </a:lstStyle>
          <a:p>
            <a:fld id="{66805305-0FA5-4D91-9E96-34E4B06C12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19515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995420" cy="347914"/>
          </a:xfrm>
          <a:prstGeom prst="rect">
            <a:avLst/>
          </a:prstGeom>
        </p:spPr>
        <p:txBody>
          <a:bodyPr vert="horz" lIns="92309" tIns="46154" rIns="92309" bIns="46154" rtlCol="0"/>
          <a:lstStyle>
            <a:lvl1pPr algn="l">
              <a:defRPr sz="1200"/>
            </a:lvl1pPr>
          </a:lstStyle>
          <a:p>
            <a:r>
              <a:rPr lang="en-US"/>
              <a:t>Cal State Fullerton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22646" y="1"/>
            <a:ext cx="3995420" cy="347914"/>
          </a:xfrm>
          <a:prstGeom prst="rect">
            <a:avLst/>
          </a:prstGeom>
        </p:spPr>
        <p:txBody>
          <a:bodyPr vert="horz" lIns="92309" tIns="46154" rIns="92309" bIns="46154" rtlCol="0"/>
          <a:lstStyle>
            <a:lvl1pPr algn="r">
              <a:defRPr sz="1200"/>
            </a:lvl1pPr>
          </a:lstStyle>
          <a:p>
            <a:fld id="{F76BFB3A-AF09-4935-935F-AADA8F949CAB}" type="datetime2">
              <a:rPr lang="en-US" smtClean="0"/>
              <a:t>Monday, August 10, 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30475" y="866775"/>
            <a:ext cx="4159250" cy="2339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309" tIns="46154" rIns="92309" bIns="4615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22020" y="3337083"/>
            <a:ext cx="7376160" cy="2730342"/>
          </a:xfrm>
          <a:prstGeom prst="rect">
            <a:avLst/>
          </a:prstGeom>
        </p:spPr>
        <p:txBody>
          <a:bodyPr vert="horz" lIns="92309" tIns="46154" rIns="92309" bIns="4615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86287"/>
            <a:ext cx="3995420" cy="347913"/>
          </a:xfrm>
          <a:prstGeom prst="rect">
            <a:avLst/>
          </a:prstGeom>
        </p:spPr>
        <p:txBody>
          <a:bodyPr vert="horz" lIns="92309" tIns="46154" rIns="92309" bIns="46154" rtlCol="0" anchor="b"/>
          <a:lstStyle>
            <a:lvl1pPr algn="l">
              <a:defRPr sz="1200"/>
            </a:lvl1pPr>
          </a:lstStyle>
          <a:p>
            <a:r>
              <a:rPr lang="en-US"/>
              <a:t>PowerPoint Name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22646" y="6586287"/>
            <a:ext cx="3995420" cy="347913"/>
          </a:xfrm>
          <a:prstGeom prst="rect">
            <a:avLst/>
          </a:prstGeom>
        </p:spPr>
        <p:txBody>
          <a:bodyPr vert="horz" lIns="92309" tIns="46154" rIns="92309" bIns="46154" rtlCol="0" anchor="b"/>
          <a:lstStyle>
            <a:lvl1pPr algn="r">
              <a:defRPr sz="1200"/>
            </a:lvl1pPr>
          </a:lstStyle>
          <a:p>
            <a:fld id="{6CEC07C6-E753-4FD7-8B29-F8EE9ACF2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7300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60D1107-8030-B797-4B87-27162CBECA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62FEB7A-903A-4EEE-AA9F-5CF80DFB47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24966" y="1684430"/>
            <a:ext cx="6474434" cy="1644603"/>
          </a:xfrm>
        </p:spPr>
        <p:txBody>
          <a:bodyPr lIns="0" tIns="0" rIns="0" bIns="0" anchor="b">
            <a:normAutofit/>
          </a:bodyPr>
          <a:lstStyle>
            <a:lvl1pPr algn="l">
              <a:lnSpc>
                <a:spcPct val="100000"/>
              </a:lnSpc>
              <a:defRPr sz="3800" b="1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Presentation Title</a:t>
            </a:r>
            <a:br>
              <a:rPr lang="en-US" dirty="0"/>
            </a:br>
            <a:r>
              <a:rPr lang="en-US" dirty="0"/>
              <a:t>Goes 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4661CA-9166-485C-902F-B2443990F4C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24966" y="3581458"/>
            <a:ext cx="6474434" cy="1474521"/>
          </a:xfrm>
        </p:spPr>
        <p:txBody>
          <a:bodyPr lIns="0" tIns="0" rIns="0" bIns="0" anchor="t"/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accent4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Sub-topic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408B901-9186-DB29-4FA5-21BBC02462A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24966" y="5215204"/>
            <a:ext cx="6474434" cy="581025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Date – Location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28424F-46DB-9E00-71BB-100694C1973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409699" y="1151832"/>
            <a:ext cx="2654301" cy="28578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C348C61-C2A2-4A56-876B-5AF63339A1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632F96-4936-05C3-1FC7-217E020F5E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F8C9C630-A663-62AC-38A7-92A9D717E9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3518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A58E13B0-1471-FD09-C552-5AB1C9B712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AFD9B1-DD15-4DA0-BD0F-5599945158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11277600" cy="11430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DB9763-7D65-429F-BD59-75DBFB945BF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200" y="1828800"/>
            <a:ext cx="11269766" cy="2981325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buNone/>
              <a:defRPr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defRPr>
                <a:solidFill>
                  <a:schemeClr val="tx2"/>
                </a:solidFill>
              </a:defRPr>
            </a:lvl2pPr>
            <a:lvl3pPr>
              <a:lnSpc>
                <a:spcPct val="100000"/>
              </a:lnSpc>
              <a:defRPr>
                <a:solidFill>
                  <a:schemeClr val="tx2"/>
                </a:solidFill>
              </a:defRPr>
            </a:lvl3pPr>
            <a:lvl4pPr>
              <a:lnSpc>
                <a:spcPct val="100000"/>
              </a:lnSpc>
              <a:defRPr>
                <a:solidFill>
                  <a:schemeClr val="tx2"/>
                </a:solidFill>
              </a:defRPr>
            </a:lvl4pPr>
            <a:lvl5pPr>
              <a:lnSpc>
                <a:spcPct val="100000"/>
              </a:lnSpc>
              <a:defRPr>
                <a:solidFill>
                  <a:schemeClr val="tx2"/>
                </a:solidFill>
              </a:defRPr>
            </a:lvl5pPr>
          </a:lstStyle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Click on six (6) icons below or add text content here (Paste Special – Unformatted Text).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280B26-DCBA-41F6-B791-F51413EC6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99B9A15-1058-6D5F-9D91-7F183BF610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Date Placeholder 3">
            <a:extLst>
              <a:ext uri="{FF2B5EF4-FFF2-40B4-BE49-F238E27FC236}">
                <a16:creationId xmlns:a16="http://schemas.microsoft.com/office/drawing/2014/main" id="{47AD375C-0981-EAD1-40D6-C1E06F8C38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5" name="Footer Placeholder 4">
            <a:extLst>
              <a:ext uri="{FF2B5EF4-FFF2-40B4-BE49-F238E27FC236}">
                <a16:creationId xmlns:a16="http://schemas.microsoft.com/office/drawing/2014/main" id="{A6B4D7EF-C9F8-3DA0-05D5-FC74F20B8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2978BF5-E404-2C42-09EC-B1DE94DD8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2" name="Graphic 31">
            <a:extLst>
              <a:ext uri="{FF2B5EF4-FFF2-40B4-BE49-F238E27FC236}">
                <a16:creationId xmlns:a16="http://schemas.microsoft.com/office/drawing/2014/main" id="{7B580FEA-8678-95DF-BFE1-2B22934502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F06C505-229C-CADE-EACC-2CB72C7BBC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8464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E5242-C647-41FB-9068-CDEDA3581F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5034" y="457199"/>
            <a:ext cx="7434366" cy="1371600"/>
          </a:xfr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280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35C1A5-3969-44EB-8F46-5E7473A8052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65034" y="2057400"/>
            <a:ext cx="7434366" cy="4032251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content (Paste Special – Unformatted Text).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EF1C3BE-B545-33FB-C631-A328427E3A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2D0DFEB-47D6-6DF6-B70A-457EB40233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451BDB93-2D43-31ED-9DBD-6CBBFB9FEEF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198C910C-E2C5-B46A-E5EA-C13AE92337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BA09A87-DADE-FD4E-2100-98AA2153846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3850DAB-085C-D134-5B64-056E493697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128000" y="137158"/>
            <a:ext cx="3606800" cy="6263642"/>
          </a:xfrm>
        </p:spPr>
        <p:txBody>
          <a:bodyPr anchor="t"/>
          <a:lstStyle>
            <a:lvl1pPr marL="0" indent="0" algn="l">
              <a:buFont typeface="+mj-lt"/>
              <a:buNone/>
              <a:defRPr/>
            </a:lvl1pPr>
          </a:lstStyle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FB5CBC9-7473-C7A0-F53B-C46F012E5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771E7F9-98B9-9C4C-825A-FCCE858F94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C5A3EAC-2CBF-F14E-0A50-B2D8FB7A2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2316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22C01-955E-4B21-9482-B5AB906BBB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11269766" cy="1143000"/>
          </a:xfrm>
        </p:spPr>
        <p:txBody>
          <a:bodyPr/>
          <a:lstStyle>
            <a:lvl1pPr algn="l">
              <a:lnSpc>
                <a:spcPct val="100000"/>
              </a:lnSpc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B74F1-5F38-4720-A95A-885766F6ACBF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200" y="1824037"/>
            <a:ext cx="5524500" cy="3503337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on six (6) icons below or add text content here (Paste Special – Unformatted Text).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DF4D07-F63D-B222-2C01-19C60131B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A5E0011-B84D-B0D8-9A8B-AFB475AAC2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121C53ED-50CD-EA79-C4ED-23BCDB7D9E2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70F36BE8-50A0-2BCE-4CE4-0FC35FB847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CA1ED0F-70E3-B15F-6C79-F96782D35B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61778D8-6E8B-41F7-8E93-1934FCA5F238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202466" y="1824037"/>
            <a:ext cx="5524500" cy="3503337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on six (6) icons below or add text content here (Paste Special – Unformatted Text).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8AFD5D8-BC9E-7745-7FB5-D1782F99E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B3AFD25-113A-0974-A2A5-67196CCF50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6B96A8C-E821-A6A4-A8AE-DAEF8298E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8281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19551-FA4B-49C5-A55E-E19426F293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5034" y="457200"/>
            <a:ext cx="11269766" cy="1143000"/>
          </a:xfrm>
        </p:spPr>
        <p:txBody>
          <a:bodyPr/>
          <a:lstStyle>
            <a:lvl1pPr algn="ctr">
              <a:lnSpc>
                <a:spcPct val="100000"/>
              </a:lnSpc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1BB0EA-2287-408C-BD4B-0102249F225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65034" y="1828800"/>
            <a:ext cx="5516666" cy="457200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header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DFEB5A-2EB1-468C-846E-5F6289E42E0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65034" y="2514601"/>
            <a:ext cx="5516666" cy="3507582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on six (6) icons below or add text content here (Paste Special – Unformatted Text).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80F103-0F55-45E8-9258-C4127A04AEA9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210302" y="1828801"/>
            <a:ext cx="5524498" cy="457200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header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798080-3E5E-4011-AB0E-15A5C81E1C06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218134" y="2514601"/>
            <a:ext cx="5516666" cy="350758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on six (6) icons below or add text content here (Paste Special – Unformatted Text).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868275B-3C88-F0A2-56B6-003AE47F39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CC6A3A8-53D1-C2EF-3210-E4CA80422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5ACD1B63-72FE-0C9E-9EF7-4AF3431D365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15A4B6FB-D719-D3C9-AC20-4FC1599E3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C62B28E-0BDF-8515-B2A7-7ECC2016940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E3D3079-D851-B257-667E-B59FC70E3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3614A242-1B0A-B2D4-8D8D-C71807DDAA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B7BDC03-DA15-D89E-4C20-254951F70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1740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55167-48D8-484C-995D-B70E4EF072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11261933" cy="1143000"/>
          </a:xfrm>
        </p:spPr>
        <p:txBody>
          <a:bodyPr/>
          <a:lstStyle>
            <a:lvl1pPr algn="ctr">
              <a:lnSpc>
                <a:spcPct val="100000"/>
              </a:lnSpc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7A5C63C-D34B-FE98-F248-679B7CA7F5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E79832-4F57-EFBB-EDE1-5629E4E250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D5AA708-0BF2-24B3-26F2-29981F321B6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19B085E5-28FF-2098-78AD-3E86D65A76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67F29EF-FC77-9966-5F68-A9E0FB4D7A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5DAD6ADA-5D62-344E-7910-E0B9AE42B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918D2E-2114-DF81-6F90-96E71DF2D91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2CF122-BE1F-7021-BEFC-C1B2EBED3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8452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7361310-3B9B-7BDF-03EB-C74453448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60D509-E524-BFC8-BF4E-68E14A99B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9EDA485-5E5E-F7CB-5749-325DB11EF1B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D4745EE-65A7-EA0B-B978-1073357E4C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2C2A662-1F18-EF5E-F2B9-A107988F3C9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69EA53D-8089-84F9-4DC9-82117803F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60828DF3-D24D-308E-61FE-CEBC8C2DBD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59DC4D77-2829-ABBD-C2FE-B65622A5E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8137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A5DAC-5D95-4CAE-B000-01F3BCC785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3606800" cy="130201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94A82-3A44-4F74-9656-A7FA2B6C272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92600" y="457201"/>
            <a:ext cx="7434366" cy="540385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on six (6) icons below or add text content here (Paste Special – Unformatted </a:t>
            </a:r>
            <a:r>
              <a:rPr lang="en-US" dirty="0" err="1"/>
              <a:t>ext</a:t>
            </a:r>
            <a:r>
              <a:rPr lang="en-US" dirty="0"/>
              <a:t>).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2A14B6-91FA-4C49-A8C8-8AF2A5F19E73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57201" y="1987812"/>
            <a:ext cx="3606800" cy="3881176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content (Paste Special – Unformatted Text).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584554-3079-F08F-71BB-060A7D5D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D0FAF0-FB41-72EE-F3B0-6D6A674C1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AE938BF7-0154-1DFC-7BA2-A1AAD69B756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9BF35A61-BCCA-196E-6EAF-76B210056F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E33226D-B66F-CF2B-2196-1425CB8ADEA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2340639-B338-6C6A-C40D-9DAFD482B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0D3F9127-B09C-E7BD-DA0C-7F58890C2D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3A19CF86-EEE3-0502-4E9D-E35CF2D7D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3208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88F79-451A-4009-9133-D541041AEB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5034" y="457200"/>
            <a:ext cx="4557816" cy="132296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5CE3D4-DB93-438D-9D02-ECFECC921D87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251450" y="457201"/>
            <a:ext cx="6475516" cy="54038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Click icon to add picture.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B6080E-7679-4AFC-988F-314BB28E7AE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65034" y="2016698"/>
            <a:ext cx="4557816" cy="385229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content (Paste Special – Unformatted Text).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7E24662-55E4-6C20-ECBD-48A9EACE88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FD62719-D189-53F1-1439-7AC46BC48A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5247D8EA-2955-A48F-6253-7F09612C6C8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28B1138D-14E6-6D05-1845-93D4CE9E36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C59D944-FF87-407C-4F17-23B6D4797F2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0A6DEDB-C233-8B9C-974B-9905C06B0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3AC5AF8C-A25D-B007-8476-CE8581EB1E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402E88B5-AAAD-1CE3-3D34-1A6D22961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824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32C78-FBC6-4C35-9052-2895C15C8F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09700" y="457200"/>
            <a:ext cx="9372600" cy="123348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10A02A-1CE4-48D0-88C1-01F73CCCBD59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Click to add content (Paste Special – Unformatted Text).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F1FCD77-8602-7D41-8B9A-91D5D286D7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FC7A3BF-CF20-3A41-88F9-23CFD85E3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5A06B363-B32C-B094-3427-F82BD0D8346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FB728A9C-9FB6-0C76-EB1D-1206A3471B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B1F503B-1E5A-06CE-17DB-1F7E05A195F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2BE8134-D42C-4177-E261-9A045BA5F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922CF19-1B2D-BD22-5095-D90D9A2D5DA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38F9D8D-924F-7F30-E920-15549695B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428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1A1871-E3DC-4D86-AB8F-F86507E69AAB}"/>
              </a:ext>
            </a:extLst>
          </p:cNvPr>
          <p:cNvSpPr>
            <a:spLocks noGrp="1"/>
          </p:cNvSpPr>
          <p:nvPr>
            <p:ph type="title" orient="vert" hasCustomPrompt="1"/>
          </p:nvPr>
        </p:nvSpPr>
        <p:spPr>
          <a:xfrm>
            <a:off x="10045700" y="457199"/>
            <a:ext cx="1681266" cy="5719763"/>
          </a:xfrm>
        </p:spPr>
        <p:txBody>
          <a:bodyPr vert="eaVert"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342906-3002-4C4B-B23A-55CDF75EE23C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465034" y="457199"/>
            <a:ext cx="9352066" cy="571976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 dirty="0"/>
              <a:t>Click to add content (Paste Special – Unformatted Text).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F40B034-0076-53DB-8382-394D354DD6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168DC6-04BA-3226-24E2-C62185DC81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A440ADF9-C347-7064-EC60-A3D0FDC3B40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74CB2B9F-859C-F5E7-4E33-3B5A2DBAC9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06559A6-DAE2-398E-B680-FB2906C2692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FA55691-BBCE-8076-B691-B5E94E556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F15BE92-3A99-0373-D539-0B576AE2B9A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7C37446-79FB-572C-7DCB-0CD811A14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72336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7361310-3B9B-7BDF-03EB-C74453448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60D509-E524-BFC8-BF4E-68E14A99B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9EDA485-5E5E-F7CB-5749-325DB11EF1B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D4745EE-65A7-EA0B-B978-1073357E4C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2C2A662-1F18-EF5E-F2B9-A107988F3C9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EC3919-549F-F494-1E48-FD7186AFC6A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36525"/>
            <a:ext cx="12192000" cy="6264275"/>
          </a:xfrm>
        </p:spPr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FFB6F98-60FB-F02E-D996-6BDFC4772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4A613E0-60FF-15CE-4F46-1BF54A34C3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1ED0E2D-2479-F2D1-2CBD-72AE12909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494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14799B7-956F-8F8E-A6D0-1086CBDD7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CE199EF-0720-7A66-5E98-DFB13B74FC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B9C7F0A-DC27-EC72-9605-CB9320CDF02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BB01B18-168E-A511-EEE3-DEF0D7546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808C6C4-490A-6565-2C66-8D2D2A5DAC9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450A3E7-E00B-4CCA-F357-C95EBEB82E3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" y="457200"/>
            <a:ext cx="3606800" cy="1768475"/>
          </a:xfrm>
        </p:spPr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Picture Placeholder 14">
            <a:extLst>
              <a:ext uri="{FF2B5EF4-FFF2-40B4-BE49-F238E27FC236}">
                <a16:creationId xmlns:a16="http://schemas.microsoft.com/office/drawing/2014/main" id="{2857C626-DF9D-E7AB-3AFA-05345F21F34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296743" y="457199"/>
            <a:ext cx="2675557" cy="1768475"/>
          </a:xfrm>
        </p:spPr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C5924014-CAF7-9BFC-4601-77B60022CFC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175500" y="457199"/>
            <a:ext cx="4559300" cy="5596358"/>
          </a:xfrm>
        </p:spPr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4">
            <a:extLst>
              <a:ext uri="{FF2B5EF4-FFF2-40B4-BE49-F238E27FC236}">
                <a16:creationId xmlns:a16="http://schemas.microsoft.com/office/drawing/2014/main" id="{934FF787-DC80-3156-D3BD-019FBF50A8C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65033" y="2454274"/>
            <a:ext cx="1681267" cy="1670466"/>
          </a:xfrm>
        </p:spPr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4">
            <a:extLst>
              <a:ext uri="{FF2B5EF4-FFF2-40B4-BE49-F238E27FC236}">
                <a16:creationId xmlns:a16="http://schemas.microsoft.com/office/drawing/2014/main" id="{CFA82F61-AF57-E84A-750C-45638A2196F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385494" y="2454274"/>
            <a:ext cx="1681267" cy="1670466"/>
          </a:xfrm>
        </p:spPr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Picture Placeholder 14">
            <a:extLst>
              <a:ext uri="{FF2B5EF4-FFF2-40B4-BE49-F238E27FC236}">
                <a16:creationId xmlns:a16="http://schemas.microsoft.com/office/drawing/2014/main" id="{D986500E-3699-D3B6-3DA3-B0299ABE50F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54439" y="4353339"/>
            <a:ext cx="1681267" cy="1700219"/>
          </a:xfrm>
        </p:spPr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Picture Placeholder 14">
            <a:extLst>
              <a:ext uri="{FF2B5EF4-FFF2-40B4-BE49-F238E27FC236}">
                <a16:creationId xmlns:a16="http://schemas.microsoft.com/office/drawing/2014/main" id="{D8792BD5-F572-13A0-BA6C-BCB139EF9FA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2374900" y="4353338"/>
            <a:ext cx="1681267" cy="1700219"/>
          </a:xfrm>
        </p:spPr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Picture Placeholder 14">
            <a:extLst>
              <a:ext uri="{FF2B5EF4-FFF2-40B4-BE49-F238E27FC236}">
                <a16:creationId xmlns:a16="http://schemas.microsoft.com/office/drawing/2014/main" id="{63577AAA-8D0D-60BB-5F18-56705AE3B7DE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290117" y="2454274"/>
            <a:ext cx="2682183" cy="3599283"/>
          </a:xfrm>
        </p:spPr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AE608273-8F15-BEF6-D0A4-45FCC4236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1D546E59-2FA9-0BAD-FCA6-A890382CE5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27DA3D65-0672-4492-51B0-37F283A84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28943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 – Photo 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14799B7-956F-8F8E-A6D0-1086CBDD7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CE199EF-0720-7A66-5E98-DFB13B74FC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B9C7F0A-DC27-EC72-9605-CB9320CDF02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BB01B18-168E-A511-EEE3-DEF0D7546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808C6C4-490A-6565-2C66-8D2D2A5DAC9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450A3E7-E00B-4CCA-F357-C95EBEB82E3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35756"/>
            <a:ext cx="5619750" cy="6265044"/>
          </a:xfrm>
        </p:spPr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C5924014-CAF7-9BFC-4601-77B60022CFC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619750" y="137158"/>
            <a:ext cx="6572250" cy="6263642"/>
          </a:xfrm>
        </p:spPr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BD0C482-8E97-9661-A2FE-6F945FBC7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BA924023-DC84-EA06-8EF6-F504B5A6D5D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7522EB88-C5EC-E0A5-377A-92D98D979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6838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 – Photo Galler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14799B7-956F-8F8E-A6D0-1086CBDD7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CE199EF-0720-7A66-5E98-DFB13B74FC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B9C7F0A-DC27-EC72-9605-CB9320CDF02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BB01B18-168E-A511-EEE3-DEF0D7546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808C6C4-490A-6565-2C66-8D2D2A5DAC9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450A3E7-E00B-4CCA-F357-C95EBEB82E3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35756"/>
            <a:ext cx="3111500" cy="6265044"/>
          </a:xfrm>
        </p:spPr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Picture Placeholder 14">
            <a:extLst>
              <a:ext uri="{FF2B5EF4-FFF2-40B4-BE49-F238E27FC236}">
                <a16:creationId xmlns:a16="http://schemas.microsoft.com/office/drawing/2014/main" id="{B985741E-0695-2E3E-97A1-5EFA37AD055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11500" y="135756"/>
            <a:ext cx="3098799" cy="6265044"/>
          </a:xfrm>
        </p:spPr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Picture Placeholder 14">
            <a:extLst>
              <a:ext uri="{FF2B5EF4-FFF2-40B4-BE49-F238E27FC236}">
                <a16:creationId xmlns:a16="http://schemas.microsoft.com/office/drawing/2014/main" id="{09B6E876-DAE9-4045-ED49-71E5F90B14F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10300" y="135756"/>
            <a:ext cx="3124200" cy="6265044"/>
          </a:xfrm>
        </p:spPr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A9703F14-6248-3D37-81B7-D2A41BA31A3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334500" y="135756"/>
            <a:ext cx="2857500" cy="6265044"/>
          </a:xfrm>
        </p:spPr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7EBB35F-0F93-1F0D-D4F4-FB9C648BB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09DEA1D0-5FB2-2C63-4E09-09E2322E5C9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43D2DFDC-39C9-F066-5E0B-C4D8D3475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33688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– Milest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7361310-3B9B-7BDF-03EB-C74453448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60D509-E524-BFC8-BF4E-68E14A99B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9EDA485-5E5E-F7CB-5749-325DB11EF1B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D4745EE-65A7-EA0B-B978-1073357E4C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2C2A662-1F18-EF5E-F2B9-A107988F3C9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D735D524-4E1A-01C1-6161-94CA241DF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DACC300C-FAD7-3549-67F4-FCF344B7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547F803D-1EF4-9E0C-A4A2-D687ED147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A59D121A-7CDD-4AA1-6502-832E9E26C48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51503" y="2439296"/>
            <a:ext cx="2295793" cy="284995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48101ADE-3572-2FB6-B261-589BBEC3124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16103" y="2439296"/>
            <a:ext cx="2295793" cy="284995"/>
          </a:xfrm>
          <a:prstGeom prst="rect">
            <a:avLst/>
          </a:prstGeom>
        </p:spPr>
      </p:pic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B9B19902-6CCB-FC62-C8DC-12EDBD6F8FB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280660" y="1737360"/>
            <a:ext cx="1691640" cy="1691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FEE1DEF9-85F9-F0E1-4A3F-6E387679E9C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116060" y="1737360"/>
            <a:ext cx="1691640" cy="1691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54C9E14-50A2-D0DC-E0B2-FC5D7072AA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442720" y="1737360"/>
            <a:ext cx="1691640" cy="1691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48408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– Milest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raphic 23">
            <a:extLst>
              <a:ext uri="{FF2B5EF4-FFF2-40B4-BE49-F238E27FC236}">
                <a16:creationId xmlns:a16="http://schemas.microsoft.com/office/drawing/2014/main" id="{BD03EAD9-8192-0A40-EC71-9930F76C864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75500" y="2455095"/>
            <a:ext cx="2295793" cy="28499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7361310-3B9B-7BDF-03EB-C74453448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60D509-E524-BFC8-BF4E-68E14A99B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9EDA485-5E5E-F7CB-5749-325DB11EF1B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D4745EE-65A7-EA0B-B978-1073357E4C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2C2A662-1F18-EF5E-F2B9-A107988F3C9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D735D524-4E1A-01C1-6161-94CA241DF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DACC300C-FAD7-3549-67F4-FCF344B7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547F803D-1EF4-9E0C-A4A2-D687ED147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A59D121A-7CDD-4AA1-6502-832E9E26C48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15374" y="2459006"/>
            <a:ext cx="2295793" cy="284995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48101ADE-3572-2FB6-B261-589BBEC3124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45168" y="2439110"/>
            <a:ext cx="2295793" cy="284995"/>
          </a:xfrm>
          <a:prstGeom prst="rect">
            <a:avLst/>
          </a:prstGeom>
        </p:spPr>
      </p:pic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B9B19902-6CCB-FC62-C8DC-12EDBD6F8FB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815078" y="1735972"/>
            <a:ext cx="1691640" cy="1691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FEE1DEF9-85F9-F0E1-4A3F-6E387679E9C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541617" y="1739448"/>
            <a:ext cx="1691640" cy="1691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54C9E14-50A2-D0DC-E0B2-FC5D7072AA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32770" y="1735972"/>
            <a:ext cx="1691640" cy="1691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8B7107F3-6464-30B8-F018-5D57A9A7033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85284" y="1735972"/>
            <a:ext cx="1691640" cy="1691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22612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– Milest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660F1517-FC1F-8F5E-2904-D9677FD60D4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67955" y="2441448"/>
            <a:ext cx="1023620" cy="283464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038138DF-C38E-BA90-AF76-973AEE9550F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29642" y="2441448"/>
            <a:ext cx="1023620" cy="283464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72FDB2AD-74BE-CF30-463A-48592780146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63465" y="2441448"/>
            <a:ext cx="1023620" cy="283464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70C03EA6-4030-9A84-B8D8-4DF99E7F270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20200" y="2441448"/>
            <a:ext cx="1023620" cy="28346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7361310-3B9B-7BDF-03EB-C74453448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60D509-E524-BFC8-BF4E-68E14A99B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9EDA485-5E5E-F7CB-5749-325DB11EF1B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D4745EE-65A7-EA0B-B978-1073357E4C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2C2A662-1F18-EF5E-F2B9-A107988F3C9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D735D524-4E1A-01C1-6161-94CA241DF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DACC300C-FAD7-3549-67F4-FCF344B7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547F803D-1EF4-9E0C-A4A2-D687ED147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B9B19902-6CCB-FC62-C8DC-12EDBD6F8FB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888125" y="1737360"/>
            <a:ext cx="1691640" cy="1691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FEE1DEF9-85F9-F0E1-4A3F-6E387679E9C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383635" y="1737360"/>
            <a:ext cx="1691640" cy="1691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54C9E14-50A2-D0DC-E0B2-FC5D7072AA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0370" y="1737360"/>
            <a:ext cx="1691640" cy="1691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8B7107F3-6464-30B8-F018-5D57A9A7033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135880" y="1737360"/>
            <a:ext cx="1691640" cy="1691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4DCBA207-2BE8-4691-9DD3-4E6135E1C2E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631389" y="1737360"/>
            <a:ext cx="1691640" cy="1691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38398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7361310-3B9B-7BDF-03EB-C74453448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60D509-E524-BFC8-BF4E-68E14A99B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9EDA485-5E5E-F7CB-5749-325DB11EF1B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D4745EE-65A7-EA0B-B978-1073357E4C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2C2A662-1F18-EF5E-F2B9-A107988F3C9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69EA53D-8089-84F9-4DC9-82117803F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60828DF3-D24D-308E-61FE-CEBC8C2DBD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59DC4D77-2829-ABBD-C2FE-B65622A5E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C162E8-B29C-AC64-05DB-717CC5D7B501}"/>
              </a:ext>
            </a:extLst>
          </p:cNvPr>
          <p:cNvSpPr/>
          <p:nvPr userDrawn="1"/>
        </p:nvSpPr>
        <p:spPr>
          <a:xfrm>
            <a:off x="465033" y="457200"/>
            <a:ext cx="5516667" cy="558165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039AF46-57A7-26B6-1F11-79C97BC97C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457200"/>
            <a:ext cx="5516668" cy="994411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defRPr/>
            </a:lvl1pPr>
          </a:lstStyle>
          <a:p>
            <a:r>
              <a:rPr lang="en-US" dirty="0"/>
              <a:t>Click to add content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6DFB476-43CE-0ED5-7CC2-A2BE569035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150216" y="1472908"/>
            <a:ext cx="2146300" cy="2009775"/>
          </a:xfrm>
          <a:prstGeom prst="ellipse">
            <a:avLst/>
          </a:prstGeom>
          <a:ln w="38100">
            <a:solidFill>
              <a:schemeClr val="accent4"/>
            </a:solidFill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21C30D1D-B94F-85B3-97D0-5DC307721DA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65034" y="5086350"/>
            <a:ext cx="5524498" cy="952499"/>
          </a:xfrm>
        </p:spPr>
        <p:txBody>
          <a:bodyPr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contact information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71202D5C-2479-42DD-8C1C-23D55874840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10299" y="457200"/>
            <a:ext cx="5524501" cy="5581650"/>
          </a:xfrm>
        </p:spPr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6939C9F5-97BE-3396-5707-F78FD1813F5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5138" y="3503981"/>
            <a:ext cx="5508625" cy="711939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74F3DA48-53E5-4844-128B-2607ED2A139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5032" y="4215921"/>
            <a:ext cx="5508625" cy="870428"/>
          </a:xfrm>
        </p:spPr>
        <p:txBody>
          <a:bodyPr anchor="t" anchorCtr="0">
            <a:noAutofit/>
          </a:bodyPr>
          <a:lstStyle>
            <a:lvl1pPr marL="0" indent="0" algn="ctr">
              <a:buNone/>
              <a:defRPr sz="1600" b="1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307709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9FC896-AEEF-411B-AA62-896E4A3C6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6050" y="457200"/>
            <a:ext cx="9359900" cy="1143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7EEF78-3D71-42CA-8591-2FA2B59A18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16049" y="1828800"/>
            <a:ext cx="9359899" cy="377817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add text content (Paste Special – Unformatted text).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3BD220-EB1E-4FF4-957C-FD4F4EE12D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65034" y="6407625"/>
            <a:ext cx="2640116" cy="4503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43FBA-75B2-4185-8DE0-0B9F6F5B24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750" y="6407624"/>
            <a:ext cx="5524500" cy="4503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781788-3541-4E58-9D27-86F22D4DE2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86850" y="6400800"/>
            <a:ext cx="2640116" cy="4503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E280E9-2294-4CEC-A84B-061E0D2BDE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0" r:id="rId13"/>
    <p:sldLayoutId id="2147483662" r:id="rId14"/>
    <p:sldLayoutId id="2147483663" r:id="rId15"/>
    <p:sldLayoutId id="2147483664" r:id="rId16"/>
    <p:sldLayoutId id="2147483666" r:id="rId17"/>
    <p:sldLayoutId id="2147483667" r:id="rId18"/>
    <p:sldLayoutId id="2147483665" r:id="rId1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914400" rtl="0" eaLnBrk="1" latinLnBrk="0" hangingPunct="1">
        <a:lnSpc>
          <a:spcPct val="100000"/>
        </a:lnSpc>
        <a:spcBef>
          <a:spcPts val="1000"/>
        </a:spcBef>
        <a:buClr>
          <a:schemeClr val="accent4"/>
        </a:buClr>
        <a:buFont typeface="Wingdings" panose="05000000000000000000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1pPr>
      <a:lvl2pPr marL="631825" indent="-174625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Font typeface="Wingdings" panose="05000000000000000000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2pPr>
      <a:lvl3pPr marL="1085850" indent="-171450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Font typeface="Wingdings" panose="05000000000000000000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3pPr>
      <a:lvl4pPr marL="1546225" indent="-174625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Font typeface="Wingdings" panose="05000000000000000000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2000250" indent="-171450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Font typeface="Wingdings" panose="05000000000000000000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26B43"/>
          </p15:clr>
        </p15:guide>
        <p15:guide id="2" pos="7680" userDrawn="1">
          <p15:clr>
            <a:srgbClr val="F26B43"/>
          </p15:clr>
        </p15:guide>
        <p15:guide id="3" pos="288" userDrawn="1">
          <p15:clr>
            <a:srgbClr val="F26B43"/>
          </p15:clr>
        </p15:guide>
        <p15:guide id="4" pos="752" userDrawn="1">
          <p15:clr>
            <a:srgbClr val="F26B43"/>
          </p15:clr>
        </p15:guide>
        <p15:guide id="5" pos="896" userDrawn="1">
          <p15:clr>
            <a:srgbClr val="F26B43"/>
          </p15:clr>
        </p15:guide>
        <p15:guide id="6" pos="1352" userDrawn="1">
          <p15:clr>
            <a:srgbClr val="F26B43"/>
          </p15:clr>
        </p15:guide>
        <p15:guide id="7" pos="1496" userDrawn="1">
          <p15:clr>
            <a:srgbClr val="F26B43"/>
          </p15:clr>
        </p15:guide>
        <p15:guide id="8" pos="1960" userDrawn="1">
          <p15:clr>
            <a:srgbClr val="F26B43"/>
          </p15:clr>
        </p15:guide>
        <p15:guide id="9" pos="2104" userDrawn="1">
          <p15:clr>
            <a:srgbClr val="F26B43"/>
          </p15:clr>
        </p15:guide>
        <p15:guide id="10" pos="2560" userDrawn="1">
          <p15:clr>
            <a:srgbClr val="F26B43"/>
          </p15:clr>
        </p15:guide>
        <p15:guide id="11" pos="2704" userDrawn="1">
          <p15:clr>
            <a:srgbClr val="F26B43"/>
          </p15:clr>
        </p15:guide>
        <p15:guide id="12" pos="3168" userDrawn="1">
          <p15:clr>
            <a:srgbClr val="F26B43"/>
          </p15:clr>
        </p15:guide>
        <p15:guide id="13" pos="3312" userDrawn="1">
          <p15:clr>
            <a:srgbClr val="F26B43"/>
          </p15:clr>
        </p15:guide>
        <p15:guide id="14" pos="3768" userDrawn="1">
          <p15:clr>
            <a:srgbClr val="F26B43"/>
          </p15:clr>
        </p15:guide>
        <p15:guide id="15" pos="3912" userDrawn="1">
          <p15:clr>
            <a:srgbClr val="F26B43"/>
          </p15:clr>
        </p15:guide>
        <p15:guide id="16" pos="4392" userDrawn="1">
          <p15:clr>
            <a:srgbClr val="F26B43"/>
          </p15:clr>
        </p15:guide>
        <p15:guide id="17" pos="4520" userDrawn="1">
          <p15:clr>
            <a:srgbClr val="F26B43"/>
          </p15:clr>
        </p15:guide>
        <p15:guide id="18" pos="4976" userDrawn="1">
          <p15:clr>
            <a:srgbClr val="F26B43"/>
          </p15:clr>
        </p15:guide>
        <p15:guide id="19" pos="5120" userDrawn="1">
          <p15:clr>
            <a:srgbClr val="F26B43"/>
          </p15:clr>
        </p15:guide>
        <p15:guide id="20" pos="5584" userDrawn="1">
          <p15:clr>
            <a:srgbClr val="F26B43"/>
          </p15:clr>
        </p15:guide>
        <p15:guide id="21" pos="5728" userDrawn="1">
          <p15:clr>
            <a:srgbClr val="F26B43"/>
          </p15:clr>
        </p15:guide>
        <p15:guide id="22" pos="6184" userDrawn="1">
          <p15:clr>
            <a:srgbClr val="F26B43"/>
          </p15:clr>
        </p15:guide>
        <p15:guide id="23" pos="6328" userDrawn="1">
          <p15:clr>
            <a:srgbClr val="F26B43"/>
          </p15:clr>
        </p15:guide>
        <p15:guide id="24" pos="6792" userDrawn="1">
          <p15:clr>
            <a:srgbClr val="F26B43"/>
          </p15:clr>
        </p15:guide>
        <p15:guide id="25" pos="6936" userDrawn="1">
          <p15:clr>
            <a:srgbClr val="F26B43"/>
          </p15:clr>
        </p15:guide>
        <p15:guide id="26" pos="7392" userDrawn="1">
          <p15:clr>
            <a:srgbClr val="F26B43"/>
          </p15:clr>
        </p15:guide>
        <p15:guide id="27" orient="horz" userDrawn="1">
          <p15:clr>
            <a:srgbClr val="F26B43"/>
          </p15:clr>
        </p15:guide>
        <p15:guide id="28" orient="horz" pos="4320" userDrawn="1">
          <p15:clr>
            <a:srgbClr val="F26B43"/>
          </p15:clr>
        </p15:guide>
        <p15:guide id="29" orient="horz" pos="288" userDrawn="1">
          <p15:clr>
            <a:srgbClr val="F26B43"/>
          </p15:clr>
        </p15:guide>
        <p15:guide id="30" orient="horz" pos="403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24966" y="1684430"/>
            <a:ext cx="8328634" cy="696305"/>
          </a:xfrm>
        </p:spPr>
        <p:txBody>
          <a:bodyPr/>
          <a:lstStyle/>
          <a:p>
            <a:r>
              <a:rPr dirty="0"/>
              <a:t>AIDLC 1 — From SDLC to AIDLC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Human-in-the-Loop vs Human-on-the-Loop · CPSC 490 · Fall 2026 · Week 1 of 4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55778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00244E"/>
                </a:solidFill>
              </a:rPr>
              <a:t>Kyoung Shin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989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4A6076"/>
                </a:solidFill>
              </a:rPr>
              <a:t>SVP Enterprise Data Strategy and Infrastructure, CMG Financial · Cofounder/CTO, SonarX · Adjunct Faculty, CSUF Computer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lecture series exists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600"/>
              <a:t>Your capstone this semester REQUIRES AI-assisted development — proposal + prototype v0 live in your team GitHub repo by Sep 27.</a:t>
            </a:r>
          </a:p>
          <a:p>
            <a:r>
              <a:rPr sz="1600"/>
              <a:t>These four lectures are the operating manual: what AI development lifecycles are, how to steer models, how to build the loop, and how to measure whether it's working.</a:t>
            </a:r>
          </a:p>
          <a:p>
            <a:r>
              <a:rPr sz="1600"/>
              <a:t>Everything here is grounded in a real running system: oodim — an autonomous AI software organization that has been building and operating software since May 2026.</a:t>
            </a:r>
          </a:p>
          <a:p>
            <a:r>
              <a:rPr sz="1600"/>
              <a:t>You will see real numbers, real failures, and real fixes — not vendor demos.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973B6"/>
                </a:solidFill>
              </a:rPr>
              <a:t>CPSC 490 · AIDLC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Today, in two hours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600"/>
              <a:t>Hour 1 — the autonomy spectrum: from autocomplete to autonomous organizations; human-IN-the-loop vs human-ON-the-loop, precisely defined.</a:t>
            </a:r>
          </a:p>
          <a:p>
            <a:r>
              <a:rPr sz="1600"/>
              <a:t>Break (10 min).</a:t>
            </a:r>
          </a:p>
          <a:p>
            <a:r>
              <a:rPr sz="1600"/>
              <a:t>Hour 2 — a two-month case study of an autonomous org: what it built, how it failed, how one evening of human work redirected it — and what that teaches about YOUR role.</a:t>
            </a:r>
          </a:p>
          <a:p>
            <a:r>
              <a:rPr sz="1600"/>
              <a:t>In-class exercise: design the autonomy level for one task in your own capstone project.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SDLC in one slide (you know this)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600"/>
              <a:t>Requirements → design → implementation → testing → deployment → maintenance; roles: PM, architect, developer, QA, ops.</a:t>
            </a:r>
          </a:p>
          <a:p>
            <a:r>
              <a:rPr sz="1600"/>
              <a:t>Every methodology (waterfall, agile, DevOps) is a different answer to ONE question: how do humans coordinate to keep software correct while it changes?</a:t>
            </a:r>
          </a:p>
          <a:p>
            <a:r>
              <a:rPr sz="1600"/>
              <a:t>The bottleneck assumption baked into all of them: humans type the code.</a:t>
            </a:r>
          </a:p>
          <a:p>
            <a:r>
              <a:rPr sz="1600"/>
              <a:t>That assumption broke in ~2023–2025. The coordination question did not.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actually changed — and what didn't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600"/>
              <a:t>LLMs now write competent code, tests, reviews, and specs at near-zero marginal cost per line.</a:t>
            </a:r>
          </a:p>
          <a:p>
            <a:r>
              <a:rPr sz="1600"/>
              <a:t>What did NOT change: software still needs requirements, verification, integration, deployment, and accountability.</a:t>
            </a:r>
          </a:p>
          <a:p>
            <a:r>
              <a:rPr sz="1600"/>
              <a:t>So the interesting question is not 'can AI code?' — it's 'what is the LIFECYCLE when the typing is free?'</a:t>
            </a:r>
          </a:p>
          <a:p>
            <a:r>
              <a:rPr sz="1600"/>
              <a:t>AIDLC = AI Development Life Cycle: the SDLC re-derived when implementation labor is abundant and stochastic.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autonomy spectrum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973B6"/>
                </a:solidFill>
              </a:rPr>
              <a:t>FIVE RUNGS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03120"/>
            <a:ext cx="198424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2973B6"/>
                </a:solidFill>
              </a:rPr>
              <a:t>L1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07791"/>
            <a:ext cx="198424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4A6076"/>
                </a:solidFill>
              </a:rPr>
              <a:t>Autocomplete — Copilot inline; human writes, AI suggests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61488" y="2103120"/>
            <a:ext cx="198424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2973B6"/>
                </a:solidFill>
              </a:rPr>
              <a:t>L2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61488" y="2907791"/>
            <a:ext cx="198424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4A6076"/>
                </a:solidFill>
              </a:rPr>
              <a:t>Chat pair — human drives, AI drafts functions/files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74336" y="2103120"/>
            <a:ext cx="198424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2973B6"/>
                </a:solidFill>
              </a:rPr>
              <a:t>L3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74336" y="2907791"/>
            <a:ext cx="198424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4A6076"/>
                </a:solidFill>
              </a:rPr>
              <a:t>Agent — AI executes multi-step tasks; human approves each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87183" y="2103120"/>
            <a:ext cx="198424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2973B6"/>
                </a:solidFill>
              </a:rPr>
              <a:t>L4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87183" y="2907791"/>
            <a:ext cx="198424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4A6076"/>
                </a:solidFill>
              </a:rPr>
              <a:t>Supervised autonomy — AI runs the loop; human handles exceptions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00032" y="2103120"/>
            <a:ext cx="198424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2973B6"/>
                </a:solidFill>
              </a:rPr>
              <a:t>L5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00032" y="2907791"/>
            <a:ext cx="198424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4A6076"/>
                </a:solidFill>
              </a:rPr>
              <a:t>Autonomous org — many agents, roles, gates; humans set direction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480560"/>
            <a:ext cx="54864" cy="1280160"/>
          </a:xfrm>
          <a:prstGeom prst="rect">
            <a:avLst/>
          </a:prstGeom>
          <a:solidFill>
            <a:srgbClr val="297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4480560"/>
            <a:ext cx="1042416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0" i="1">
                <a:solidFill>
                  <a:srgbClr val="00244E"/>
                </a:solidFill>
              </a:rPr>
              <a:t>Your capstone will live at L2–L3. The case study runs at L4–L5. The engineering is different at every rung.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two supervision models, precisely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973B6"/>
                </a:solidFill>
              </a:rPr>
              <a:t>DEFINITIONS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00200"/>
            <a:ext cx="5394960" cy="4480560"/>
          </a:xfrm>
          <a:prstGeom prst="rect">
            <a:avLst/>
          </a:prstGeom>
          <a:solidFill>
            <a:srgbClr val="E3EEF7"/>
          </a:solidFill>
          <a:ln>
            <a:solidFill>
              <a:srgbClr val="8A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2973B6"/>
                </a:solidFill>
              </a:rPr>
              <a:t>Human-IN-the-loop (HITL)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5029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>
                <a:solidFill>
                  <a:srgbClr val="00244E"/>
                </a:solidFill>
              </a:rPr>
              <a:t>•  A human APPROVES each consequential action before it happens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00244E"/>
                </a:solidFill>
              </a:rPr>
              <a:t>•  AI proposes; human disposes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00244E"/>
                </a:solidFill>
              </a:rPr>
              <a:t>•  Latency: human attention per step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00244E"/>
                </a:solidFill>
              </a:rPr>
              <a:t>•  Scales with human hours — the human is on the critical path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00244E"/>
                </a:solidFill>
              </a:rPr>
              <a:t>•  Right when: actions are risky, hard to verify, or hard to reverse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1600200"/>
            <a:ext cx="5394960" cy="4480560"/>
          </a:xfrm>
          <a:prstGeom prst="rect">
            <a:avLst/>
          </a:prstGeom>
          <a:solidFill>
            <a:srgbClr val="E3EEF7"/>
          </a:solidFill>
          <a:ln>
            <a:solidFill>
              <a:srgbClr val="8A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7830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2973B6"/>
                </a:solidFill>
              </a:rPr>
              <a:t>Human-ON-the-loop (HOTL)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331720"/>
            <a:ext cx="5029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>
                <a:solidFill>
                  <a:srgbClr val="00244E"/>
                </a:solidFill>
              </a:rPr>
              <a:t>•  The system acts on its own; a human SUPERVISES and intervenes on exception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00244E"/>
                </a:solidFill>
              </a:rPr>
              <a:t>•  Gates + monitors replace per-action approval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00244E"/>
                </a:solidFill>
              </a:rPr>
              <a:t>•  Latency: machine speed until an alarm fires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00244E"/>
                </a:solidFill>
              </a:rPr>
              <a:t>•  Scales with gate quality — the human is on the exception path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00244E"/>
                </a:solidFill>
              </a:rPr>
              <a:t>•  Right when: actions are verifiable, reversible, and bounded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design question is WHERE to put the human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600"/>
              <a:t>Not 'human or no human' — every real system is a mix. The question is which decisions need a human BEFORE, and which only need one when something goes wrong.</a:t>
            </a:r>
          </a:p>
          <a:p>
            <a:r>
              <a:rPr sz="1600"/>
              <a:t>The cost of HITL: every approval is a queue; humans become the org's clock speed.</a:t>
            </a:r>
          </a:p>
          <a:p>
            <a:r>
              <a:rPr sz="1600"/>
              <a:t>The cost of HOTL: every missing gate is an incident; the system optimizes whatever the gates reward — exactly, literally, and at machine speed.</a:t>
            </a:r>
          </a:p>
          <a:p>
            <a:r>
              <a:rPr sz="1600"/>
              <a:t>You will see both costs paid, with receipts, in the case study.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study: oodim — an autonomous software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600"/>
              <a:t>AI 'avatars' with roles: planner (spec-writer), implementers, reviewers, an operator, a meta-moderator — each is a prompt + permissions + budget.</a:t>
            </a:r>
          </a:p>
          <a:p>
            <a:r>
              <a:rPr sz="1600"/>
              <a:t>They file issues, write code, open PRs, review each other, iterate on feedback, merge on green CI, and deploy — 24/7, on a job queue.</a:t>
            </a:r>
          </a:p>
          <a:p>
            <a:r>
              <a:rPr sz="1600"/>
              <a:t>Humans in the org: ONE founder (me) + one monitoring agent. Neither writes the product code.</a:t>
            </a:r>
          </a:p>
          <a:p>
            <a:r>
              <a:rPr sz="1600"/>
              <a:t>Flagship product: AFTERSIGN, an original 3D story game with NPCs that remember you across sessions — live at game.oodim.com.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973B6"/>
                </a:solidFill>
              </a:rPr>
              <a:t>REAL SYSTEM, RUNNING SINCE MAY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>
                <a:solidFill>
                  <a:srgbClr val="4A6076"/>
                </a:solidFill>
              </a:rPr>
              <a:t>Architecture and evidence pages: oodim.com/about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AIDLC loop, end to 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600"/>
              <a:t>Issue filed (by avatar, planner, or alarm) → Definition-of-Ready gate → implementer session stages a diff → pre-PR verdict gate bounces junk → PR opens.</a:t>
            </a:r>
          </a:p>
          <a:p>
            <a:r>
              <a:rPr sz="1600"/>
              <a:t>Auto-review by a DIFFERENT avatar (different account) → REQUEST_CHANGES loops back to the author, bounded by an iteration cap → APPROVE.</a:t>
            </a:r>
          </a:p>
          <a:p>
            <a:r>
              <a:rPr sz="1600"/>
              <a:t>CI gates (typecheck, unit, e2e, red-green polarity proofs) → auto-merge → deploy → post-merge verification.</a:t>
            </a:r>
          </a:p>
          <a:p>
            <a:r>
              <a:rPr sz="1600"/>
              <a:t>Every arrow is code. Every state has an owner. No human in the happy path.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>
                <a:solidFill>
                  <a:srgbClr val="4A6076"/>
                </a:solidFill>
              </a:rPr>
              <a:t>This is Lecture 3's subject in depth — today, just see the shape.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keeps it from wedging: the immune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600"/>
              <a:t>Janitors: sweep orphaned jobs, close empty PRs, unstick zombies — every failure state has a scheduled cleaner.</a:t>
            </a:r>
          </a:p>
          <a:p>
            <a:r>
              <a:rPr sz="1600"/>
              <a:t>Escalation ladder: iteration cap → exhaustion (with a lesson written to the avatar's memory) → senior re-attempt with a stronger model → human hand-off as the LAST rung.</a:t>
            </a:r>
          </a:p>
          <a:p>
            <a:r>
              <a:rPr sz="1600"/>
              <a:t>Budget governors: per-session cost clamps + a paced daily budget — a runaway loop hits a wall, not a credit card.</a:t>
            </a:r>
          </a:p>
          <a:p>
            <a:r>
              <a:rPr sz="1600"/>
              <a:t>'Parked for human' is a FEATURE: the system knowing what it cannot fix is what makes the autonomy safe.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 months of autonomous operation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973B6"/>
                </a:solidFill>
              </a:rPr>
              <a:t>THE RAW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03120"/>
            <a:ext cx="198424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2973B6"/>
                </a:solidFill>
              </a:rPr>
              <a:t>~1,100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07791"/>
            <a:ext cx="198424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4A6076"/>
                </a:solidFill>
              </a:rPr>
              <a:t>merged PRs on the game repo since June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61488" y="2103120"/>
            <a:ext cx="198424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2973B6"/>
                </a:solidFill>
              </a:rPr>
              <a:t>$2.39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61488" y="2907791"/>
            <a:ext cx="198424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4A6076"/>
                </a:solidFill>
              </a:rPr>
              <a:t>cost per delivered PR (30-day ledger, July)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74336" y="2103120"/>
            <a:ext cx="198424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2973B6"/>
                </a:solidFill>
              </a:rPr>
              <a:t>24/7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74336" y="2907791"/>
            <a:ext cx="198424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4A6076"/>
                </a:solidFill>
              </a:rPr>
              <a:t>operation — nights, weekends, holidays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87183" y="2103120"/>
            <a:ext cx="198424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2973B6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87183" y="2907791"/>
            <a:ext cx="198424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4A6076"/>
                </a:solidFill>
              </a:rPr>
              <a:t>humans: founder direction + monitor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00032" y="2103120"/>
            <a:ext cx="198424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2973B6"/>
                </a:solidFill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00032" y="2907791"/>
            <a:ext cx="198424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4A6076"/>
                </a:solidFill>
              </a:rPr>
              <a:t>production-code commits typed by a human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480560"/>
            <a:ext cx="54864" cy="1280160"/>
          </a:xfrm>
          <a:prstGeom prst="rect">
            <a:avLst/>
          </a:prstGeom>
          <a:solidFill>
            <a:srgbClr val="297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4480560"/>
            <a:ext cx="1042416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0" i="1">
                <a:solidFill>
                  <a:srgbClr val="00244E"/>
                </a:solidFill>
              </a:rPr>
              <a:t>Impressive — and deliberately incomplete. The next hour is about what these numbers hide.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>
                <a:solidFill>
                  <a:srgbClr val="4A6076"/>
                </a:solidFill>
              </a:rPr>
              <a:t>Ledger + methodology: oodim.com/about/aidlc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834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2973B6"/>
                </a:solidFill>
              </a:rPr>
              <a:t>Break — 10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4A6076"/>
                </a:solidFill>
              </a:rPr>
              <a:t>Hour 2: the honest part — what two months actually bought, and Goodhart's law at machine speed.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skeptic's slide (it stays 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500"/>
              <a:t>Two months. ~1,100 merged PRs. Hundreds of dollars in tokens.</a:t>
            </a:r>
          </a:p>
          <a:p>
            <a:r>
              <a:rPr sz="1500"/>
              <a:t>The playable result in early August: a vertical slice a strong solo developer could build in a couple of weekends.</a:t>
            </a:r>
          </a:p>
          <a:p>
            <a:r>
              <a:rPr sz="1500"/>
              <a:t>If the metric is 'game quality per dollar', the autonomous org LOSES to one good human. Badly.</a:t>
            </a:r>
          </a:p>
          <a:p>
            <a:r>
              <a:rPr sz="1500"/>
              <a:t>Any evaluation of AIDLC that hides this slide is marketing, not engineering.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7900"/>
                </a:solidFill>
              </a:rPr>
              <a:t>HONESTY FIRST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074920"/>
            <a:ext cx="54864" cy="114300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5074920"/>
            <a:ext cx="1042416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0" i="1">
                <a:solidFill>
                  <a:srgbClr val="00244E"/>
                </a:solidFill>
              </a:rPr>
              <a:t>“It looks like abusing tokens without any progress.” — the founder, reviewing his own system, Aug 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Goodhart's law at machine speed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7900"/>
                </a:solidFill>
              </a:rPr>
              <a:t>THE MEASURED FAILURE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03120"/>
            <a:ext cx="198424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2973B6"/>
                </a:solidFill>
              </a:rPr>
              <a:t>268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07791"/>
            <a:ext cx="198424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4A6076"/>
                </a:solidFill>
              </a:rPr>
              <a:t>flagship commits in July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61488" y="2103120"/>
            <a:ext cx="198424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FF7900"/>
                </a:solidFill>
              </a:rPr>
              <a:t>288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61488" y="2907791"/>
            <a:ext cx="198424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4A6076"/>
                </a:solidFill>
              </a:rPr>
              <a:t>file-touches on tests/harness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74336" y="2103120"/>
            <a:ext cx="198424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FF7900"/>
                </a:solidFill>
              </a:rPr>
              <a:t>206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74336" y="2907791"/>
            <a:ext cx="198424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4A6076"/>
                </a:solidFill>
              </a:rPr>
              <a:t>touches on 'contract' modules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87183" y="2103120"/>
            <a:ext cx="198424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FF7900"/>
                </a:solidFill>
              </a:rPr>
              <a:t>45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87183" y="2907791"/>
            <a:ext cx="198424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4A6076"/>
                </a:solidFill>
              </a:rPr>
              <a:t>touches on the page players see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00032" y="2103120"/>
            <a:ext cx="198424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FF7900"/>
                </a:solidFill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00032" y="2907791"/>
            <a:ext cx="198424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4A6076"/>
                </a:solidFill>
              </a:rPr>
              <a:t>contract modules the served page actually imported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480560"/>
            <a:ext cx="54864" cy="128016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4480560"/>
            <a:ext cx="1042416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0" i="1">
                <a:solidFill>
                  <a:srgbClr val="00244E"/>
                </a:solidFill>
              </a:rPr>
              <a:t>When a measure becomes a target, it ceases to be a good measure. The org optimized green tests and merged PRs — exactly what its gates rewarded — and produced almost nothing a player could feel.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>
                <a:solidFill>
                  <a:srgbClr val="4A6076"/>
                </a:solidFill>
              </a:rPr>
              <a:t>Instrument: scripts/surface-delta.sh — file-touch classification, public method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it happened (nobody was lazy — everybody complied)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600"/>
              <a:t>Every gate said: tests green? merged? contract documented? — and every avatar satisfied every gate, honestly.</a:t>
            </a:r>
          </a:p>
          <a:p>
            <a:r>
              <a:rPr sz="1600"/>
              <a:t>No gate said: 'does the thing a player touches change?' So it didn't.</a:t>
            </a:r>
          </a:p>
          <a:p>
            <a:r>
              <a:rPr sz="1600"/>
              <a:t>Team goal existed on paper — zero avatars ever endorsed it; shared memory amplified harness-first lessons 6:1.</a:t>
            </a:r>
          </a:p>
          <a:p>
            <a:r>
              <a:rPr sz="1600"/>
              <a:t>This is the HOTL failure mode: the system does not do what you want. It does what you MEASURE.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7900"/>
                </a:solidFill>
              </a:rPr>
              <a:t>ROOT CAUSE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correction: one evening of human work (Aug 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600"/>
              <a:t>Definition of Done, in the studio brief: 'done' = player-visible on the served page; harness-only work must be labeled and rationed to 1 in 4.</a:t>
            </a:r>
          </a:p>
          <a:p>
            <a:r>
              <a:rPr sz="1600"/>
              <a:t>Reviewer CONSUMER RULE: green tests are NOT enough — an unconsumed module can't ride green tests to APPROVE.</a:t>
            </a:r>
          </a:p>
          <a:p>
            <a:r>
              <a:rPr sz="1600"/>
              <a:t>Planner falsifiability bar extended down to every story: phrase it as 'a player can &lt;do X&gt;'.</a:t>
            </a:r>
          </a:p>
          <a:p>
            <a:r>
              <a:rPr sz="1600"/>
              <a:t>A wiring epic that names the integration outcome, and the norm seeded into the avatars' shared memory.</a:t>
            </a:r>
          </a:p>
          <a:p>
            <a:r>
              <a:rPr sz="1600"/>
              <a:t>Total human effort: five edits, one evening. No new model, no new code generator.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973B6"/>
                </a:solidFill>
              </a:rPr>
              <a:t>THE H-TERM IN ACTION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one after the correction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973B6"/>
                </a:solidFill>
              </a:rPr>
              <a:t>DID IT WORK?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03120"/>
            <a:ext cx="25374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2973B6"/>
                </a:solidFill>
              </a:rPr>
              <a:t>8+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07791"/>
            <a:ext cx="25374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4A6076"/>
                </a:solidFill>
              </a:rPr>
              <a:t>avatars RETRACTED their own unconsumed modules when the rule caught them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14700" y="2103120"/>
            <a:ext cx="25374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2973B6"/>
                </a:solidFill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14700" y="2907791"/>
            <a:ext cx="25374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4A6076"/>
                </a:solidFill>
              </a:rPr>
              <a:t>served-surface features merged in week 1 (route choice, touch controls, memory-tiered NPC recognition, durable saves)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59" y="2103120"/>
            <a:ext cx="25374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2973B6"/>
                </a:solidFill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59" y="2907791"/>
            <a:ext cx="25374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4A6076"/>
                </a:solidFill>
              </a:rPr>
              <a:t>attempts to game the rule with fake no-op consumers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46819" y="2103120"/>
            <a:ext cx="25374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2973B6"/>
                </a:solidFill>
              </a:rPr>
              <a:t>6:1→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46819" y="2907791"/>
            <a:ext cx="25374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4A6076"/>
                </a:solidFill>
              </a:rPr>
              <a:t>shared-memory norm flipped — avatars now write 'wire it into the served page' lessons unprompted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480560"/>
            <a:ext cx="54864" cy="1280160"/>
          </a:xfrm>
          <a:prstGeom prst="rect">
            <a:avLst/>
          </a:prstGeom>
          <a:solidFill>
            <a:srgbClr val="297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4480560"/>
            <a:ext cx="1042416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0" i="1">
                <a:solidFill>
                  <a:srgbClr val="00244E"/>
                </a:solidFill>
              </a:rPr>
              <a:t>Same models. Same tokens. Different incentives. The output changed in 48 hours.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>
                <a:solidFill>
                  <a:srgbClr val="4A6076"/>
                </a:solidFill>
              </a:rPr>
              <a:t>Pre-registered measurement window, docs/plan/aidlc-august-window.md — Lecture 4 covers the method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h-term: what humans are actually for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500"/>
              <a:t>Throughput scales with tokens: more budget → more PRs, linearly and boringly.</a:t>
            </a:r>
          </a:p>
          <a:p>
            <a:r>
              <a:rPr sz="1500"/>
              <a:t>VALUE scales with direction: gates, incentives, definitions of done — the things that decide what all that throughput points at.</a:t>
            </a:r>
          </a:p>
          <a:p>
            <a:r>
              <a:rPr sz="1500"/>
              <a:t>The human role collapses to rare, system-level decisions: h · w_H, small h, huge weight.</a:t>
            </a:r>
          </a:p>
          <a:p>
            <a:r>
              <a:rPr sz="1500"/>
              <a:t>Corollary for your career: the scarce skill is not typing code next to an AI — it is designing the objective function the AI-speed system will optimize.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973B6"/>
                </a:solidFill>
              </a:rPr>
              <a:t>THE THESIS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074920"/>
            <a:ext cx="54864" cy="1143000"/>
          </a:xfrm>
          <a:prstGeom prst="rect">
            <a:avLst/>
          </a:prstGeom>
          <a:solidFill>
            <a:srgbClr val="297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5074920"/>
            <a:ext cx="1042416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0" i="1">
                <a:solidFill>
                  <a:srgbClr val="00244E"/>
                </a:solidFill>
              </a:rPr>
              <a:t>One human evening redirected two months of machine momentum. That asymmetry IS the job description.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Choosing the rung: a decision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973B6"/>
                </a:solidFill>
              </a:rPr>
              <a:t>PRACTICAL RULES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00200"/>
            <a:ext cx="5394960" cy="4480560"/>
          </a:xfrm>
          <a:prstGeom prst="rect">
            <a:avLst/>
          </a:prstGeom>
          <a:solidFill>
            <a:srgbClr val="E3EEF7"/>
          </a:solidFill>
          <a:ln>
            <a:solidFill>
              <a:srgbClr val="8A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2973B6"/>
                </a:solidFill>
              </a:rPr>
              <a:t>Keep the human IN the loop when…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5029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>
                <a:solidFill>
                  <a:srgbClr val="00244E"/>
                </a:solidFill>
              </a:rPr>
              <a:t>•  Actions are irreversible or expensive to undo (deploys to prod, schema drops, payments)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00244E"/>
                </a:solidFill>
              </a:rPr>
              <a:t>•  Verification is subjective (design taste, UX judgment, tone)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00244E"/>
                </a:solidFill>
              </a:rPr>
              <a:t>•  The spec itself is still forming — you'd be automating a guess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00244E"/>
                </a:solidFill>
              </a:rPr>
              <a:t>•  A wrong action damages trust (user-facing comms, grades, money)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1600200"/>
            <a:ext cx="5394960" cy="4480560"/>
          </a:xfrm>
          <a:prstGeom prst="rect">
            <a:avLst/>
          </a:prstGeom>
          <a:solidFill>
            <a:srgbClr val="E3EEF7"/>
          </a:solidFill>
          <a:ln>
            <a:solidFill>
              <a:srgbClr val="8A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7830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2973B6"/>
                </a:solidFill>
              </a:rPr>
              <a:t>Move the human ON the loop when…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331720"/>
            <a:ext cx="5029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>
                <a:solidFill>
                  <a:srgbClr val="00244E"/>
                </a:solidFill>
              </a:rPr>
              <a:t>•  A machine gate can verify better than a tired human (types, tests, lint, contracts)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00244E"/>
                </a:solidFill>
              </a:rPr>
              <a:t>•  Volume makes per-action approval the bottleneck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00244E"/>
                </a:solidFill>
              </a:rPr>
              <a:t>•  Failures are contained + recoverable (staging, sandboxes, budget caps)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00244E"/>
                </a:solidFill>
              </a:rPr>
              <a:t>•  You can afford ONE good alarm instead of a thousand approvals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oodim draws the line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600"/>
              <a:t>Autonomous (HOTL): implement, review, iterate, merge-on-green, staging deploys, janitorial recovery — all machine-speed.</a:t>
            </a:r>
          </a:p>
          <a:p>
            <a:r>
              <a:rPr sz="1600"/>
              <a:t>Human-gated (HITL): production deploy path, budget ceilings, incentive/goal changes, anything touching money or identity.</a:t>
            </a:r>
          </a:p>
          <a:p>
            <a:r>
              <a:rPr sz="1600"/>
              <a:t>The monitor agent sits between: it fixes infrastructure autonomously but escalates judgment calls with evidence.</a:t>
            </a:r>
          </a:p>
          <a:p>
            <a:r>
              <a:rPr sz="1600"/>
              <a:t>The line MOVES: every time a gate proves itself, something crosses from HITL to HOTL. Autonomy is earned, not declared.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Your capstone will be human-in-the-loop — do it deliberately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600"/>
              <a:t>Default stance: AI drafts, you verify, you commit. You are accountable for every line (course AI policy — disclosure + accountability).</a:t>
            </a:r>
          </a:p>
          <a:p>
            <a:r>
              <a:rPr sz="1600"/>
              <a:t>But CHOOSE the loop per task: tests and boilerplate can run at L3 (agent does the task, you review the diff); architecture and API design stay at L2.</a:t>
            </a:r>
          </a:p>
          <a:p>
            <a:r>
              <a:rPr sz="1600"/>
              <a:t>Your GitHub repo is your gate system: PRs + a teammate review = your CONSUMER RULE.</a:t>
            </a:r>
          </a:p>
          <a:p>
            <a:r>
              <a:rPr sz="1600"/>
              <a:t>By week 8 you should be able to say: 'here is a task class we hand to the AI whole, and here is the gate that catches its mistakes.'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973B6"/>
                </a:solidFill>
              </a:rPr>
              <a:t>APPLYING THIS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In-class exercise — design the loop for one task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600"/>
              <a:t>Pick ONE concrete task from your project idea (e.g., 'user signup flow', 'score persistence', 'CSV import').</a:t>
            </a:r>
          </a:p>
          <a:p>
            <a:r>
              <a:rPr sz="1600"/>
              <a:t>Write: (1) the autonomy rung you'd run it at and why; (2) the gate that verifies it WITHOUT a human reading every line; (3) the failure that gate would miss.</a:t>
            </a:r>
          </a:p>
          <a:p>
            <a:r>
              <a:rPr sz="1600"/>
              <a:t>For that missed failure: is the answer a better gate, or a human approval? Defend the choice in two sentences.</a:t>
            </a:r>
          </a:p>
          <a:p>
            <a:r>
              <a:rPr sz="1600"/>
              <a:t>Teams of 2–3. Be ready to present one answer to the class.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7900"/>
                </a:solidFill>
              </a:rPr>
              <a:t>HANDS-ON · 20 MINUTES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394960"/>
            <a:ext cx="54864" cy="91440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5394960"/>
            <a:ext cx="104241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0" i="1">
                <a:solidFill>
                  <a:srgbClr val="00244E"/>
                </a:solidFill>
              </a:rPr>
              <a:t>Deliverable: one page per team — task, rung, gate, missed failure, and your HITL/HOTL call.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covered — and where we go next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600"/>
              <a:t>The autonomy spectrum, and HITL vs HOTL as a per-decision design choice, not an ideology.</a:t>
            </a:r>
          </a:p>
          <a:p>
            <a:r>
              <a:rPr sz="1600"/>
              <a:t>A real autonomous org: the loop, the immune system, the honest two-month ledger.</a:t>
            </a:r>
          </a:p>
          <a:p>
            <a:r>
              <a:rPr sz="1600"/>
              <a:t>Goodhart at machine speed, the one-evening correction, and the h-term: humans set direction; machines supply throughput.</a:t>
            </a:r>
          </a:p>
          <a:p>
            <a:r>
              <a:rPr sz="1600"/>
              <a:t>Next week — Prompt Engineering: the actual language of direction. Bring your project idea; you'll write real prompts for it.</a:t>
            </a:r>
          </a:p>
          <a:p>
            <a:r>
              <a:rPr sz="1600"/>
              <a:t>Reading: oodim.com/about/aidlc (the honest ledger) and docs/plan/aidlc-august-window.md (the pre-registered experiment).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SUF">
      <a:dk1>
        <a:srgbClr val="00244E"/>
      </a:dk1>
      <a:lt1>
        <a:srgbClr val="FFFFFF"/>
      </a:lt1>
      <a:dk2>
        <a:srgbClr val="222222"/>
      </a:dk2>
      <a:lt2>
        <a:srgbClr val="EBEBEB"/>
      </a:lt2>
      <a:accent1>
        <a:srgbClr val="00244E"/>
      </a:accent1>
      <a:accent2>
        <a:srgbClr val="2973B6"/>
      </a:accent2>
      <a:accent3>
        <a:srgbClr val="8ACCE4"/>
      </a:accent3>
      <a:accent4>
        <a:srgbClr val="FF7900"/>
      </a:accent4>
      <a:accent5>
        <a:srgbClr val="EDA941"/>
      </a:accent5>
      <a:accent6>
        <a:srgbClr val="F3CD47"/>
      </a:accent6>
      <a:hlink>
        <a:srgbClr val="99B3B9"/>
      </a:hlink>
      <a:folHlink>
        <a:srgbClr val="DF6436"/>
      </a:folHlink>
    </a:clrScheme>
    <a:fontScheme name="CSUF-Theme-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SUF-PPT-1-A.potx" id="{E13FE947-1374-4EFE-A238-7BFC20D6E167}" vid="{777727EA-B4F9-40AF-8260-CC2A141DB68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CSUF-PPT-1-A</Template>
  <TotalTime>98</TotalTime>
  <Words>2427</Words>
  <Application>Microsoft Office PowerPoint</Application>
  <PresentationFormat>Widescreen</PresentationFormat>
  <Paragraphs>180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Wingdings</vt:lpstr>
      <vt:lpstr>Office Theme</vt:lpstr>
      <vt:lpstr>AIDLC 1 — From SDLC to AIDLC</vt:lpstr>
      <vt:lpstr>Why this lecture series exists</vt:lpstr>
      <vt:lpstr>Today, in two hours</vt:lpstr>
      <vt:lpstr>SDLC in one slide (you know this)</vt:lpstr>
      <vt:lpstr>What actually changed — and what didn't</vt:lpstr>
      <vt:lpstr>The autonomy spectrum</vt:lpstr>
      <vt:lpstr>The two supervision models, precisely</vt:lpstr>
      <vt:lpstr>The design question is WHERE to put the human</vt:lpstr>
      <vt:lpstr>Case study: oodim — an autonomous software organization</vt:lpstr>
      <vt:lpstr>The AIDLC loop, end to end</vt:lpstr>
      <vt:lpstr>What keeps it from wedging: the immune system</vt:lpstr>
      <vt:lpstr>Two months of autonomous operation</vt:lpstr>
      <vt:lpstr>PowerPoint Presentation</vt:lpstr>
      <vt:lpstr>The skeptic's slide (it stays in)</vt:lpstr>
      <vt:lpstr>Goodhart's law at machine speed</vt:lpstr>
      <vt:lpstr>Why it happened (nobody was lazy — everybody complied)</vt:lpstr>
      <vt:lpstr>The correction: one evening of human work (Aug 1)</vt:lpstr>
      <vt:lpstr>Week one after the correction</vt:lpstr>
      <vt:lpstr>The h-term: what humans are actually for</vt:lpstr>
      <vt:lpstr>Choosing the rung: a decision matrix</vt:lpstr>
      <vt:lpstr>How oodim draws the line today</vt:lpstr>
      <vt:lpstr>Your capstone will be human-in-the-loop — do it deliberately</vt:lpstr>
      <vt:lpstr>In-class exercise — design the loop for one task</vt:lpstr>
      <vt:lpstr>What we covered — and where we go next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Kyoung Seop Shin</dc:creator>
  <cp:lastModifiedBy>Kyoung Seop Shin</cp:lastModifiedBy>
  <cp:revision>27</cp:revision>
  <cp:lastPrinted>2023-01-31T22:42:47Z</cp:lastPrinted>
  <dcterms:created xsi:type="dcterms:W3CDTF">2026-03-14T10:11:27Z</dcterms:created>
  <dcterms:modified xsi:type="dcterms:W3CDTF">2026-08-10T18:25:40Z</dcterms:modified>
</cp:coreProperties>
</file>