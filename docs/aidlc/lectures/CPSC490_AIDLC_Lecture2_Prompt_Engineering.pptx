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oung Seop Shin" userId="f2ba2a935e95c03a" providerId="LiveId" clId="{11050786-4135-465F-A8C1-70F97DC79668}"/>
    <pc:docChg chg="modSld">
      <pc:chgData name="Kyoung Seop Shin" userId="f2ba2a935e95c03a" providerId="LiveId" clId="{11050786-4135-465F-A8C1-70F97DC79668}" dt="2026-08-10T18:27:11.399" v="1" actId="14100"/>
      <pc:docMkLst>
        <pc:docMk/>
      </pc:docMkLst>
      <pc:sldChg chg="modSp mod">
        <pc:chgData name="Kyoung Seop Shin" userId="f2ba2a935e95c03a" providerId="LiveId" clId="{11050786-4135-465F-A8C1-70F97DC79668}" dt="2026-08-10T18:27:11.399" v="1" actId="14100"/>
        <pc:sldMkLst>
          <pc:docMk/>
          <pc:sldMk cId="0" sldId="256"/>
        </pc:sldMkLst>
        <pc:spChg chg="mod">
          <ac:chgData name="Kyoung Seop Shin" userId="f2ba2a935e95c03a" providerId="LiveId" clId="{11050786-4135-465F-A8C1-70F97DC79668}" dt="2026-08-10T18:27:11.399" v="1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0D1107-8030-B797-4B87-27162CBE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684430"/>
            <a:ext cx="6474434" cy="1644603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581458"/>
            <a:ext cx="6474434" cy="1474521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215204"/>
            <a:ext cx="6474434" cy="5810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8424F-46DB-9E00-71BB-100694C197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699" y="1151832"/>
            <a:ext cx="2654301" cy="285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348C61-C2A2-4A56-876B-5AF63339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2F96-4936-05C3-1FC7-217E020F5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C9C630-A663-62AC-38A7-92A9D717E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2981325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4965" y="1684430"/>
            <a:ext cx="9193607" cy="688067"/>
          </a:xfrm>
        </p:spPr>
        <p:txBody>
          <a:bodyPr/>
          <a:lstStyle/>
          <a:p>
            <a:r>
              <a:rPr dirty="0"/>
              <a:t>AIDLC 2 — Prompt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stochastic machines with words · CPSC 490 · Fall 2026 · Week 2 of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244E"/>
                </a:solidFill>
              </a:rPr>
              <a:t>Kyoung Shin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SVP Enterprise Data Strategy and Infrastructure, CMG Financial · Cofounder/CTO, SonarX · Adjunct Faculty, CSUF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Today, in two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Hour 1 — anatomy of a prompt that works: context, constraints, output contracts, examples; a tour of REAL production prompts from the autonomous org.</a:t>
            </a:r>
          </a:p>
          <a:p>
            <a:r>
              <a:rPr sz="1600"/>
              <a:t>Break (10 min).</a:t>
            </a:r>
          </a:p>
          <a:p>
            <a:r>
              <a:rPr sz="1600"/>
              <a:t>Hour 2 — the anti-pattern museum (each exhibit cost real money), prompt evaluation, and prompts-as-incentive-design.</a:t>
            </a:r>
          </a:p>
          <a:p>
            <a:r>
              <a:rPr sz="1600"/>
              <a:t>Exercise: write and red-team an implementer prompt for one story from YOUR capstone.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prompt is not the sentence you typed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The model sees ONE thing: a context window — system instructions + tool definitions + history + retrieved documents + your message, concatenated.</a:t>
            </a:r>
          </a:p>
          <a:p>
            <a:r>
              <a:rPr sz="1600"/>
              <a:t>'Prompt engineering' = designing that whole window: what's in it, what's NOT in it, and what shape the output must take.</a:t>
            </a:r>
          </a:p>
          <a:p>
            <a:r>
              <a:rPr sz="1600"/>
              <a:t>Corollary 1: everything in the window is instructions — including things you pasted as 'just data'. (This bites; museum exhibit #1.)</a:t>
            </a:r>
          </a:p>
          <a:p>
            <a:r>
              <a:rPr sz="1600"/>
              <a:t>Corollary 2: the model can't use what isn't there. Most 'bad AI output' is missing context, not model stupidity.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MENTAL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working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ROLE — who is speaking and with what authority ('You are the reviewer; you own the merge decision').</a:t>
            </a:r>
          </a:p>
          <a:p>
            <a:r>
              <a:rPr sz="1600"/>
              <a:t>TASK — one primary verb, testable ('stage a diff that makes issue #N's acceptance criteria pass').</a:t>
            </a:r>
          </a:p>
          <a:p>
            <a:r>
              <a:rPr sz="1600"/>
              <a:t>CONTEXT — the facts needed: the issue, the file list, the constraints of the environment.</a:t>
            </a:r>
          </a:p>
          <a:p>
            <a:r>
              <a:rPr sz="1600"/>
              <a:t>CONSTRAINTS — what NOT to do, budgets, boundaries ('do not create a branch; writable paths are…').</a:t>
            </a:r>
          </a:p>
          <a:p>
            <a:r>
              <a:rPr sz="1600"/>
              <a:t>OUTPUT CONTRACT — the exact shape: JSON schema, a marker line, a diff. If you can't parse it, you can't build on it.</a:t>
            </a:r>
          </a:p>
          <a:p>
            <a:r>
              <a:rPr sz="1600"/>
              <a:t>ESCAPE HATCH — what to do when stuck ('if the file moved, grep for its content; do NOT conclude the repo is broken').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Specificity beats cleverness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BEFORE / AFTER — REAL REWRITE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Weak (what people write)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“Review this PR and tell me if it's good.”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Vague authority — is this advice or a decision?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No ground truth — good BY WHAT BAR?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No output shape — a paragraph of vibes comes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Strong (what ships)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“You are the merge-owning reviewer. Verdict: APPROVE or REQUEST_CHANGES, last line, exactly.”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“Green tests are NOT enough: an unconsumed module cannot ride green tests to APPROVE. Require wired usage, a named wiring story, or an explicit harness-only justification.”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“List each defect with file:line. No defect ⇒ say so explicitly.”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Parseable verdict → the harness can act on it at machine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Right column is the production CONSUMER RULE that ended the July drift (Lecture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contracts: markers, schemas, verdicts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If software consumes the output, the output is an API — design it like one.</a:t>
            </a:r>
          </a:p>
          <a:p>
            <a:r>
              <a:rPr sz="1600"/>
              <a:t>Marker protocol (production): every operator work-chunk must END with `META-DONE` or `NEXT-CHUNK: &lt;handoff&gt;` — the chain parser reads exactly that.</a:t>
            </a:r>
          </a:p>
          <a:p>
            <a:r>
              <a:rPr sz="1600"/>
              <a:t>Verdict protocol: reviews end APPROVE / REQUEST_CHANGES — one regex, zero ambiguity.</a:t>
            </a:r>
          </a:p>
          <a:p>
            <a:r>
              <a:rPr sz="1600"/>
              <a:t>JSON when structure is rich; markers when a state machine just needs a signal; free text ONLY for humans.</a:t>
            </a:r>
          </a:p>
          <a:p>
            <a:r>
              <a:rPr sz="1600"/>
              <a:t>Rule of thumb: the more autonomous the consumer, the stricter the contract.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Examples, reasoning room, and self-checks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Few-shot: two GOOD examples beat three paragraphs of description — show the shape, don't describe it. (Show a well-formed issue; get well-formed issues.)</a:t>
            </a:r>
          </a:p>
          <a:p>
            <a:r>
              <a:rPr sz="1600"/>
              <a:t>Reasoning room: for judgment tasks, let the model think before the verdict — 'analyze each seeded defect, THEN give the verdict' measurably beats verdict-first.</a:t>
            </a:r>
          </a:p>
          <a:p>
            <a:r>
              <a:rPr sz="1600"/>
              <a:t>Self-check framing: 'list what you're about to change and why; if a change doesn't serve the acceptance criteria, drop it' — cheap insurance against scope creep.</a:t>
            </a:r>
          </a:p>
          <a:p>
            <a:r>
              <a:rPr sz="1600"/>
              <a:t>But: reasoning is not a substitute for verification. The harness (Lecture 3) still checks the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Personas: what they do and don't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Every oodim avatar has a persona (name, voice, history). Question: does persona depth change output quality?</a:t>
            </a:r>
          </a:p>
          <a:p>
            <a:r>
              <a:rPr sz="1600"/>
              <a:t>Measured answer (4 falsifications + 1 positive result): personas are LOAD-BEARING for conversation — chat quality visibly drops with flat personas.</a:t>
            </a:r>
          </a:p>
          <a:p>
            <a:r>
              <a:rPr sz="1600"/>
              <a:t>For CODE they are invisible: implementation determinism and quality unchanged with persona stripped.</a:t>
            </a:r>
          </a:p>
          <a:p>
            <a:r>
              <a:rPr sz="1600"/>
              <a:t>Lesson: put persona effort where it pays (user-facing voice), not where it doesn't (diffs). Measure; don't vibe.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A CONTROLLED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oodim substrate experiments, July 2026 — method in the public 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prompt tour: the planner mandate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The planner writes the product plan and files stories. Its prompt is a management philosophy, compressed:</a:t>
            </a:r>
          </a:p>
          <a:p>
            <a:r>
              <a:rPr sz="1500"/>
              <a:t>Milestones must be FALSIFIABLE: 'someone can PLAY the thing and say yes/no' — if you can't phrase it that way, it's not a milestone.</a:t>
            </a:r>
          </a:p>
          <a:p>
            <a:r>
              <a:rPr sz="1500"/>
              <a:t>Integration story FIRST: the epic is done when the end-to-end proof passes, not when its pieces merge.</a:t>
            </a:r>
          </a:p>
          <a:p>
            <a:r>
              <a:rPr sz="1500"/>
              <a:t>Ration the harness: 'a story that only adds a spec/harness must NAME the story that wires it' — Goodhart resistance, in prose.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PROMPTS AS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“The org's failure mode is real and measured — everyone optimizes locally-verifiable micro-increments. You maintain the artifact that makes work add up.” — planner-session.ts,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973B6"/>
                </a:solidFill>
              </a:rPr>
              <a:t>Break —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A6076"/>
                </a:solidFill>
              </a:rPr>
              <a:t>Hour 2: the anti-pattern museum. Every exhibit has a dollar amount attached.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Museum #1: there is no such thing as 'just data'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We built evaluation fixtures as real GitHub issues and wrote 'do not implement — eval fixture' in the body. The models being evaluated READ the issue. One model politely refused to implement it, 8 runs out of 9.</a:t>
            </a:r>
          </a:p>
          <a:p>
            <a:r>
              <a:rPr sz="1600"/>
              <a:t>It was the strictest instruction-follower in the pool — punished by our own fixture for being good.</a:t>
            </a:r>
          </a:p>
          <a:p>
            <a:r>
              <a:rPr sz="1600"/>
              <a:t>Same class: a PR body quoting 'Closes #N' from an old attempt auto-closed the wrong issue on merge. The parser didn't know it was a quote.</a:t>
            </a:r>
          </a:p>
          <a:p>
            <a:r>
              <a:rPr sz="1600"/>
              <a:t>Fix pattern: SANITIZE quoted text (neutralize close-keywords), and never embed instructions in data you'll show a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ANTI-PATTERNS · EACH ONE SHIPPED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Museum #2: ambient mentions become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An implementer prompt mentioned issue #604 as CONTEXT ('this relates to #604'). The harness injected 'Closes #604' into the PR — and merge auto-closed an issue nobody had implemented.</a:t>
            </a:r>
          </a:p>
          <a:p>
            <a:r>
              <a:rPr sz="1600"/>
              <a:t>Root cause: the close-ref injector trusted ANY issue number in the prompt; ambient ≠ target.</a:t>
            </a:r>
          </a:p>
          <a:p>
            <a:r>
              <a:rPr sz="1600"/>
              <a:t>Fix: only issue-ROUTED prompts (the read_issue(N) the session was dispatched for) can generate close-refs.</a:t>
            </a:r>
          </a:p>
          <a:p>
            <a:r>
              <a:rPr sz="1600"/>
              <a:t>General rule: any automation keyed on 'the model mentioned X' will eventually fire on a mention that meant nothing.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Museum #3: prompt strings are not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Iteration depth was once counted by parsing the prompt prefix '[iteration depth N]'. A sweep re-engaged stalled PRs with fresh prompts → depth reset to 0 → one PR looped REQUEST_CHANGES for 6+ rounds, forever.</a:t>
            </a:r>
          </a:p>
          <a:p>
            <a:r>
              <a:rPr sz="1600"/>
              <a:t>Fix: durable counters — count the REVIEW HISTORY on GitHub (survives every chain break), carry depth in job payloads, cap against per-project capacity.</a:t>
            </a:r>
          </a:p>
          <a:p>
            <a:r>
              <a:rPr sz="1600"/>
              <a:t>Lesson: if a number matters, it lives in a database or an external system of record — never only in the words you sent a model.</a:t>
            </a:r>
          </a:p>
          <a:p>
            <a:r>
              <a:rPr sz="1600"/>
              <a:t>(Lecture 3 builds this into a principle: harness state must survive the harness crashing.)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Museum #4: context is a budget, not a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Reviews of god-files (1,800-line index.html) died mid-session: the file ate the context window and the session hit the wall with no verdict — repeatedly, expensively.</a:t>
            </a:r>
          </a:p>
          <a:p>
            <a:r>
              <a:rPr sz="1600"/>
              <a:t>Fix 1 (harness): per-session read caps — a reviewer reads at most 24KB per file; big files get excerpted.</a:t>
            </a:r>
          </a:p>
          <a:p>
            <a:r>
              <a:rPr sz="1600"/>
              <a:t>Fix 2 (architecture): de-hot-file — the 1,800-line file became a 160-line page + modules. Better for humans AND models.</a:t>
            </a:r>
          </a:p>
          <a:p>
            <a:r>
              <a:rPr sz="1600"/>
              <a:t>Deep lesson: context limits are a code-quality forcing function. If the model can't fit it, your teammates can't either.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Museum #5: the final-turn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Sessions have turn caps. A model deep in tool-calls at the cap gets hard-killed: 43 tool calls, $1.86, and NOTHING persisted — no summary, no handoff.</a:t>
            </a:r>
          </a:p>
          <a:p>
            <a:r>
              <a:rPr sz="1600"/>
              <a:t>The prompt said 'stop after your Nth call and write the marker.' The model ignored it ~10% of the time. Prose is a suggestion.</a:t>
            </a:r>
          </a:p>
          <a:p>
            <a:r>
              <a:rPr sz="1600"/>
              <a:t>Fix: the HARNESS disables tools on the last turn (tool_choice: none) and injects 'FINAL TURN — write your hand-off now.' The marker rate went to ~100%.</a:t>
            </a:r>
          </a:p>
          <a:p>
            <a:r>
              <a:rPr sz="1600"/>
              <a:t>This is the deepest pattern in the course: prompts and harness are CO-DESIGNED. Ask the model nicely — then make the environment enforce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prompts: never trust vibes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 prompt change is a code change: it needs a test. Options that work at class scale:</a:t>
            </a:r>
          </a:p>
          <a:p>
            <a:r>
              <a:rPr sz="1600"/>
              <a:t>Determinism runs: same task, 3 runs — did the outputs converge on the same files, same behavior? (A prompt that yields 3 different architectures is underspecified.)</a:t>
            </a:r>
          </a:p>
          <a:p>
            <a:r>
              <a:rPr sz="1600"/>
              <a:t>Golden sets: 5–10 fixed inputs with known-good outputs; diff every prompt revision against them.</a:t>
            </a:r>
          </a:p>
          <a:p>
            <a:r>
              <a:rPr sz="1600"/>
              <a:t>Judge panels for subjective quality: a second model scores outputs comparatively, anonymized — never let a judge score its own output.</a:t>
            </a:r>
          </a:p>
          <a:p>
            <a:r>
              <a:rPr sz="1600"/>
              <a:t>Version prompts in git. Review prompt diffs like code diffs. They ARE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MEASUREMENT (PREVIEW OF LECTURE 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Prompts as incentive design (the big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One avatar's prompt = instructions. The SYSTEM of prompts + gates = an economy: it defines what 'done' means, what gets rewarded, what gets blocked.</a:t>
            </a:r>
          </a:p>
          <a:p>
            <a:r>
              <a:rPr sz="1600"/>
              <a:t>July's drift (Lecture 1) was not a bad model — it was a well-followed bad economy. The fix was five PROMPT/GATE edits, not a new model.</a:t>
            </a:r>
          </a:p>
          <a:p>
            <a:r>
              <a:rPr sz="1600"/>
              <a:t>When you write your team's AI prompts, you are writing your project's incentives. Write the Definition of Done first.</a:t>
            </a:r>
          </a:p>
          <a:p>
            <a:r>
              <a:rPr sz="1600"/>
              <a:t>The best prompt engineers in 2026 look less like wordsmiths and more like mechanism designers.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exercise — write and red-team an implementer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Take one story from your capstone ('user can reset password', 'game saves high score').</a:t>
            </a:r>
          </a:p>
          <a:p>
            <a:r>
              <a:rPr sz="1600"/>
              <a:t>Write the full prompt: role, task, context (what files/docs the AI gets), constraints, output contract, escape hatch. Aim for under 300 words.</a:t>
            </a:r>
          </a:p>
          <a:p>
            <a:r>
              <a:rPr sz="1600"/>
              <a:t>Swap with another team. RED-TEAM theirs: find (1) an instruction that's really a vibe, (2) missing context that forces a guess, (3) an output no parser could consume, (4) a museum anti-pattern.</a:t>
            </a:r>
          </a:p>
          <a:p>
            <a:r>
              <a:rPr sz="1600"/>
              <a:t>Return, revise, keep both versions — the diff is your evidence of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HANDS-ON · 25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54864" cy="9144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Deliverable: prompt v1 + red-team notes + prompt v2, in your team repo under docs/prompts/.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 +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 prompt is a context window with a contract — role, task, context, constraints, output shape, escape hatch.</a:t>
            </a:r>
          </a:p>
          <a:p>
            <a:r>
              <a:rPr sz="1600"/>
              <a:t>The museum: data is instructions, mentions become actions, prompt strings aren't state, context is a budget, and the final turn needs enforcement.</a:t>
            </a:r>
          </a:p>
          <a:p>
            <a:r>
              <a:rPr sz="1600"/>
              <a:t>Prompts + gates = your project's economy; design the incentives, not just the sentences.</a:t>
            </a:r>
          </a:p>
          <a:p>
            <a:r>
              <a:rPr sz="1600"/>
              <a:t>Next week — Harness Loop Engineering: the machinery that makes stochastic models reliable. The prompts you wrote today get an exoskeleton.</a:t>
            </a:r>
          </a:p>
          <a:p>
            <a:r>
              <a:rPr sz="1600"/>
              <a:t>Reading: oodim.com/about/prompt-engineering.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UF-PPT-1-A.potx" id="{E13FE947-1374-4EFE-A238-7BFC20D6E167}" vid="{777727EA-B4F9-40AF-8260-CC2A141DB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CSUF-PPT-1-A</Template>
  <TotalTime>98</TotalTime>
  <Words>2120</Words>
  <Application>Microsoft Office PowerPoint</Application>
  <PresentationFormat>Widescreen</PresentationFormat>
  <Paragraphs>113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AIDLC 2 — Prompt Engineering</vt:lpstr>
      <vt:lpstr>Today, in two hours</vt:lpstr>
      <vt:lpstr>A prompt is not the sentence you typed</vt:lpstr>
      <vt:lpstr>Anatomy of a working prompt</vt:lpstr>
      <vt:lpstr>Specificity beats cleverness</vt:lpstr>
      <vt:lpstr>Output contracts: markers, schemas, verdicts</vt:lpstr>
      <vt:lpstr>Examples, reasoning room, and self-checks</vt:lpstr>
      <vt:lpstr>Personas: what they do and don't do</vt:lpstr>
      <vt:lpstr>Production prompt tour: the planner mandate</vt:lpstr>
      <vt:lpstr>PowerPoint Presentation</vt:lpstr>
      <vt:lpstr>Museum #1: there is no such thing as 'just data'</vt:lpstr>
      <vt:lpstr>Museum #2: ambient mentions become actions</vt:lpstr>
      <vt:lpstr>Museum #3: prompt strings are not state</vt:lpstr>
      <vt:lpstr>Museum #4: context is a budget, not a bucket</vt:lpstr>
      <vt:lpstr>Museum #5: the final-turn problem</vt:lpstr>
      <vt:lpstr>Evaluating prompts: never trust vibes</vt:lpstr>
      <vt:lpstr>Prompts as incentive design (the big idea)</vt:lpstr>
      <vt:lpstr>In-class exercise — write and red-team an implementer prompt</vt:lpstr>
      <vt:lpstr>Wrap +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Kyoung Seop Shin</dc:creator>
  <cp:lastModifiedBy>Kyoung Seop Shin</cp:lastModifiedBy>
  <cp:revision>27</cp:revision>
  <cp:lastPrinted>2023-01-31T22:42:47Z</cp:lastPrinted>
  <dcterms:created xsi:type="dcterms:W3CDTF">2026-03-14T10:11:27Z</dcterms:created>
  <dcterms:modified xsi:type="dcterms:W3CDTF">2026-08-10T18:27:13Z</dcterms:modified>
</cp:coreProperties>
</file>