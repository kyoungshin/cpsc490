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9220200" cy="6934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14" y="6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oung Seop Shin" userId="f2ba2a935e95c03a" providerId="LiveId" clId="{11050786-4135-465F-A8C1-70F97DC79668}"/>
    <pc:docChg chg="modSld">
      <pc:chgData name="Kyoung Seop Shin" userId="f2ba2a935e95c03a" providerId="LiveId" clId="{11050786-4135-465F-A8C1-70F97DC79668}" dt="2026-08-10T18:28:01.576" v="1" actId="14100"/>
      <pc:docMkLst>
        <pc:docMk/>
      </pc:docMkLst>
      <pc:sldChg chg="modSp mod">
        <pc:chgData name="Kyoung Seop Shin" userId="f2ba2a935e95c03a" providerId="LiveId" clId="{11050786-4135-465F-A8C1-70F97DC79668}" dt="2026-08-10T18:28:01.576" v="1" actId="14100"/>
        <pc:sldMkLst>
          <pc:docMk/>
          <pc:sldMk cId="0" sldId="256"/>
        </pc:sldMkLst>
        <pc:spChg chg="mod">
          <ac:chgData name="Kyoung Seop Shin" userId="f2ba2a935e95c03a" providerId="LiveId" clId="{11050786-4135-465F-A8C1-70F97DC79668}" dt="2026-08-10T18:28:01.576" v="1" actId="14100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4BBF73-BFE4-9675-AF97-BCBB5DD951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348BF-5159-860D-10C2-C403B13121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235382CB-D6B4-48E5-AFFD-4242D787BD27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61FAE-A38B-F089-F551-02119E9436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757FF-1DEF-1FD8-299F-05A2B93DB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6805305-0FA5-4D91-9E96-34E4B06C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951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F76BFB3A-AF09-4935-935F-AADA8F949CAB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30475" y="866775"/>
            <a:ext cx="4159250" cy="2339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2020" y="3337083"/>
            <a:ext cx="7376160" cy="2730342"/>
          </a:xfrm>
          <a:prstGeom prst="rect">
            <a:avLst/>
          </a:prstGeom>
        </p:spPr>
        <p:txBody>
          <a:bodyPr vert="horz" lIns="92309" tIns="46154" rIns="92309" bIns="4615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CEC07C6-E753-4FD7-8B29-F8EE9ACF2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0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0D1107-8030-B797-4B87-27162CBECA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2FEB7A-903A-4EEE-AA9F-5CF80DFB47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24966" y="1684430"/>
            <a:ext cx="6474434" cy="1644603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38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661CA-9166-485C-902F-B2443990F4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24966" y="3581458"/>
            <a:ext cx="6474434" cy="1474521"/>
          </a:xfr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08B901-9186-DB29-4FA5-21BBC02462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4966" y="5215204"/>
            <a:ext cx="6474434" cy="5810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 – Location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8424F-46DB-9E00-71BB-100694C197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9699" y="1151832"/>
            <a:ext cx="2654301" cy="2857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348C61-C2A2-4A56-876B-5AF63339A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32F96-4936-05C3-1FC7-217E020F5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8C9C630-A663-62AC-38A7-92A9D717E9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51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58E13B0-1471-FD09-C552-5AB1C9B71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FD9B1-DD15-4DA0-BD0F-559994515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11430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B9763-7D65-429F-BD59-75DBFB945B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828800"/>
            <a:ext cx="11269766" cy="2981325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2"/>
                </a:solidFill>
              </a:defRPr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80B26-DCBA-41F6-B791-F51413EC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B9A15-1058-6D5F-9D91-7F183BF61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47AD375C-0981-EAD1-40D6-C1E06F8C38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A6B4D7EF-C9F8-3DA0-05D5-FC74F20B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978BF5-E404-2C42-09EC-B1DE94DD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7B580FEA-8678-95DF-BFE1-2B2293450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06C505-229C-CADE-EACC-2CB72C7BBC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46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5242-C647-41FB-9068-CDEDA3581F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199"/>
            <a:ext cx="7434366" cy="137160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28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5C1A5-3969-44EB-8F46-5E7473A8052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2057400"/>
            <a:ext cx="7434366" cy="4032251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content (Paste Special – Unformatted Text).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F1C3BE-B545-33FB-C631-A328427E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D0DFEB-47D6-6DF6-B70A-457EB4023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1BDB93-2D43-31ED-9DBD-6CBBFB9FEEF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98C910C-E2C5-B46A-E5EA-C13AE9233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A09A87-DADE-FD4E-2100-98AA215384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3850DAB-085C-D134-5B64-056E493697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8000" y="137158"/>
            <a:ext cx="3606800" cy="6263642"/>
          </a:xfrm>
        </p:spPr>
        <p:txBody>
          <a:bodyPr anchor="t"/>
          <a:lstStyle>
            <a:lvl1pPr marL="0" indent="0" algn="l">
              <a:buFont typeface="+mj-lt"/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FB5CBC9-7473-C7A0-F53B-C46F012E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71E7F9-98B9-9C4C-825A-FCCE858F9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5A3EAC-2CBF-F14E-0A50-B2D8FB7A2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31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2C01-955E-4B21-9482-B5AB906BB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9766" cy="1143000"/>
          </a:xfrm>
        </p:spPr>
        <p:txBody>
          <a:bodyPr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74F1-5F38-4720-A95A-885766F6ACB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824037"/>
            <a:ext cx="5524500" cy="3503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F4D07-F63D-B222-2C01-19C60131B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E0011-B84D-B0D8-9A8B-AFB475AA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21C53ED-50CD-EA79-C4ED-23BCDB7D9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F36BE8-50A0-2BCE-4CE4-0FC35FB84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A1ED0F-70E3-B15F-6C79-F96782D35B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61778D8-6E8B-41F7-8E93-1934FCA5F23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2466" y="1824037"/>
            <a:ext cx="5524500" cy="3503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AFD5D8-BC9E-7745-7FB5-D1782F99E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3AFD25-113A-0974-A2A5-67196CCF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B96A8C-E821-A6A4-A8AE-DAEF8298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28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19551-FA4B-49C5-A55E-E19426F293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11269766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BB0EA-2287-408C-BD4B-0102249F225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1828800"/>
            <a:ext cx="5516666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FEB5A-2EB1-468C-846E-5F6289E42E0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5034" y="2514601"/>
            <a:ext cx="5516666" cy="350758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0F103-0F55-45E8-9258-C4127A04AEA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10302" y="1828801"/>
            <a:ext cx="5524498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98080-3E5E-4011-AB0E-15A5C81E1C0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18134" y="2514601"/>
            <a:ext cx="5516666" cy="350758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68275B-3C88-F0A2-56B6-003AE47F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C6A3A8-53D1-C2EF-3210-E4CA80422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ACD1B63-72FE-0C9E-9EF7-4AF3431D36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5A4B6FB-D719-D3C9-AC20-4FC1599E3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62B28E-0BDF-8515-B2A7-7ECC201694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E3D3079-D851-B257-667E-B59FC70E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614A242-1B0A-B2D4-8D8D-C71807DD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B7BDC03-DA15-D89E-4C20-254951F7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4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5167-48D8-484C-995D-B70E4EF072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1933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A5C63C-D34B-FE98-F248-679B7CA7F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E79832-4F57-EFBB-EDE1-5629E4E25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D5AA708-0BF2-24B3-26F2-29981F321B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9B085E5-28FF-2098-78AD-3E86D65A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67F29EF-FC77-9966-5F68-A9E0FB4D7A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DAD6ADA-5D62-344E-7910-E0B9AE42B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18D2E-2114-DF81-6F90-96E71DF2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CF122-BE1F-7021-BEFC-C1B2EBED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4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9EA53D-8089-84F9-4DC9-82117803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28DF3-D24D-308E-61FE-CEBC8C2D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C4D77-2829-ABBD-C2FE-B65622A5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3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5DAC-5D95-4CAE-B000-01F3BCC785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3606800" cy="130201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94A82-3A44-4F74-9656-A7FA2B6C27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2600" y="457201"/>
            <a:ext cx="7434366" cy="5403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on six (6) icons below or add text content here (Paste Special – Unformatted </a:t>
            </a:r>
            <a:r>
              <a:rPr lang="en-US" dirty="0" err="1"/>
              <a:t>ext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A14B6-91FA-4C49-A8C8-8AF2A5F19E7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987812"/>
            <a:ext cx="3606800" cy="3881176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content (Paste Special – Unformatted Text).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84554-3079-F08F-71BB-060A7D5D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D0FAF0-FB41-72EE-F3B0-6D6A674C1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E938BF7-0154-1DFC-7BA2-A1AAD69B75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BF35A61-BCCA-196E-6EAF-76B210056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E33226D-B66F-CF2B-2196-1425CB8ADE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2340639-B338-6C6A-C40D-9DAFD482B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D3F9127-B09C-E7BD-DA0C-7F58890C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A19CF86-EEE3-0502-4E9D-E35CF2D7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20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88F79-451A-4009-9133-D541041AEB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4557816" cy="132296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CE3D4-DB93-438D-9D02-ECFECC921D8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251450" y="457201"/>
            <a:ext cx="6475516" cy="54038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icon to add picture.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6080E-7679-4AFC-988F-314BB28E7AE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65034" y="2016698"/>
            <a:ext cx="4557816" cy="385229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content (Paste Special – Unformatted Text).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E24662-55E4-6C20-ECBD-48A9EACE8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62719-D189-53F1-1439-7AC46BC48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247D8EA-2955-A48F-6253-7F09612C6C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8B1138D-14E6-6D05-1845-93D4CE9E3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C59D944-FF87-407C-4F17-23B6D4797F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0A6DEDB-C233-8B9C-974B-9905C06B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AC5AF8C-A25D-B007-8476-CE8581EB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02E88B5-AAAD-1CE3-3D34-1A6D2296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2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2C78-FBC6-4C35-9052-2895C15C8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9700" y="457200"/>
            <a:ext cx="9372600" cy="123348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0A02A-1CE4-48D0-88C1-01F73CCCBD59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Click to add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1FCD77-8602-7D41-8B9A-91D5D286D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C7A3BF-CF20-3A41-88F9-23CFD85E3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A06B363-B32C-B094-3427-F82BD0D834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B728A9C-9FB6-0C76-EB1D-1206A3471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B1F503B-1E5A-06CE-17DB-1F7E05A195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2BE8134-D42C-4177-E261-9A045BA5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22CF19-1B2D-BD22-5095-D90D9A2D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8F9D8D-924F-7F30-E920-15549695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2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1A1871-E3DC-4D86-AB8F-F86507E69AAB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10045700" y="457199"/>
            <a:ext cx="1681266" cy="5719763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42906-3002-4C4B-B23A-55CDF75EE23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5034" y="457199"/>
            <a:ext cx="9352066" cy="571976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 dirty="0"/>
              <a:t>Click to add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40B034-0076-53DB-8382-394D354D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168DC6-04BA-3226-24E2-C62185DC8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440ADF9-C347-7064-EC60-A3D0FDC3B4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4CB2B9F-859C-F5E7-4E33-3B5A2DBAC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6559A6-DAE2-398E-B680-FB2906C269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A55691-BBCE-8076-B691-B5E94E55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15BE92-3A99-0373-D539-0B576AE2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C37446-79FB-572C-7DCB-0CD811A14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233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C3919-549F-F494-1E48-FD7186AFC6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6525"/>
            <a:ext cx="12192000" cy="62642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FFB6F98-60FB-F02E-D996-6BDFC477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A613E0-60FF-15CE-4F46-1BF54A34C3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1ED0E2D-2479-F2D1-2CBD-72AE1290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49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457200"/>
            <a:ext cx="3606800" cy="17684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2857C626-DF9D-E7AB-3AFA-05345F21F3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96743" y="457199"/>
            <a:ext cx="2675557" cy="17684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5924014-CAF7-9BFC-4601-77B60022C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75500" y="457199"/>
            <a:ext cx="4559300" cy="5596358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934FF787-DC80-3156-D3BD-019FBF50A8C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5033" y="2454274"/>
            <a:ext cx="1681267" cy="1670466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FA82F61-AF57-E84A-750C-45638A2196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385494" y="2454274"/>
            <a:ext cx="1681267" cy="1670466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D986500E-3699-D3B6-3DA3-B0299ABE50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4439" y="4353339"/>
            <a:ext cx="1681267" cy="1700219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D8792BD5-F572-13A0-BA6C-BCB139EF9F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374900" y="4353338"/>
            <a:ext cx="1681267" cy="1700219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63577AAA-8D0D-60BB-5F18-56705AE3B7D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90117" y="2454274"/>
            <a:ext cx="2682183" cy="3599283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E608273-8F15-BEF6-D0A4-45FCC423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D546E59-2FA9-0BAD-FCA6-A890382C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7DA3D65-0672-4492-51B0-37F283A8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94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– Photo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5756"/>
            <a:ext cx="561975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5924014-CAF7-9BFC-4601-77B60022C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19750" y="137158"/>
            <a:ext cx="6572250" cy="6263642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BD0C482-8E97-9661-A2FE-6F945FBC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A924023-DC84-EA06-8EF6-F504B5A6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522EB88-C5EC-E0A5-377A-92D98D979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83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– Photo Galler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5756"/>
            <a:ext cx="31115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B985741E-0695-2E3E-97A1-5EFA37AD05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11500" y="135756"/>
            <a:ext cx="3098799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9B6E876-DAE9-4045-ED49-71E5F90B14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10300" y="135756"/>
            <a:ext cx="31242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A9703F14-6248-3D37-81B7-D2A41BA31A3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34500" y="135756"/>
            <a:ext cx="28575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7EBB35F-0F93-1F0D-D4F4-FB9C648B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9DEA1D0-5FB2-2C63-4E09-09E2322E5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3D2DFDC-39C9-F066-5E0B-C4D8D347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368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9D121A-7CDD-4AA1-6502-832E9E26C4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1503" y="2439296"/>
            <a:ext cx="2295793" cy="28499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8101ADE-3572-2FB6-B261-589BBEC312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6103" y="2439296"/>
            <a:ext cx="2295793" cy="284995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8066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1606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272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840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BD03EAD9-8192-0A40-EC71-9930F76C86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500" y="2455095"/>
            <a:ext cx="2295793" cy="2849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9D121A-7CDD-4AA1-6502-832E9E26C4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5374" y="2459006"/>
            <a:ext cx="2295793" cy="28499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8101ADE-3572-2FB6-B261-589BBEC312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5168" y="2439110"/>
            <a:ext cx="2295793" cy="284995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15078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41617" y="1739448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2770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B7107F3-6464-30B8-F018-5D57A9A703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85284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261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660F1517-FC1F-8F5E-2904-D9677FD60D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7955" y="2441448"/>
            <a:ext cx="1023620" cy="28346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38138DF-C38E-BA90-AF76-973AEE9550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9642" y="2441448"/>
            <a:ext cx="1023620" cy="28346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2FDB2AD-74BE-CF30-463A-485927801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63465" y="2441448"/>
            <a:ext cx="1023620" cy="28346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0C03EA6-4030-9A84-B8D8-4DF99E7F27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0200" y="2441448"/>
            <a:ext cx="1023620" cy="2834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88125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83635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37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B7107F3-6464-30B8-F018-5D57A9A703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3588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4DCBA207-2BE8-4691-9DD3-4E6135E1C2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31389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39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9EA53D-8089-84F9-4DC9-82117803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28DF3-D24D-308E-61FE-CEBC8C2D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C4D77-2829-ABBD-C2FE-B65622A5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C162E8-B29C-AC64-05DB-717CC5D7B501}"/>
              </a:ext>
            </a:extLst>
          </p:cNvPr>
          <p:cNvSpPr/>
          <p:nvPr userDrawn="1"/>
        </p:nvSpPr>
        <p:spPr>
          <a:xfrm>
            <a:off x="465033" y="457200"/>
            <a:ext cx="5516667" cy="55816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39AF46-57A7-26B6-1F11-79C97BC97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5516668" cy="99441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content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6DFB476-43CE-0ED5-7CC2-A2BE569035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50216" y="1472908"/>
            <a:ext cx="2146300" cy="2009775"/>
          </a:xfrm>
          <a:prstGeom prst="ellipse">
            <a:avLst/>
          </a:prstGeom>
          <a:ln w="38100">
            <a:solidFill>
              <a:schemeClr val="accent4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1C30D1D-B94F-85B3-97D0-5DC307721DA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5086350"/>
            <a:ext cx="5524498" cy="952499"/>
          </a:xfrm>
        </p:spPr>
        <p:txBody>
          <a:bodyPr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contact information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1202D5C-2479-42DD-8C1C-23D5587484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299" y="457200"/>
            <a:ext cx="5524501" cy="5581650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939C9F5-97BE-3396-5707-F78FD1813F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38" y="3503981"/>
            <a:ext cx="5508625" cy="711939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4F3DA48-53E5-4844-128B-2607ED2A13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032" y="4215921"/>
            <a:ext cx="5508625" cy="870428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0770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FC896-AEEF-411B-AA62-896E4A3C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457200"/>
            <a:ext cx="9359900" cy="1143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EEF78-3D71-42CA-8591-2FA2B59A1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6049" y="1828800"/>
            <a:ext cx="9359899" cy="37781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BD220-EB1E-4FF4-957C-FD4F4EE12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034" y="6407625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43FBA-75B2-4185-8DE0-0B9F6F5B2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750" y="6407624"/>
            <a:ext cx="5524500" cy="4503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81788-3541-4E58-9D27-86F22D4DE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00800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280E9-2294-4CEC-A84B-061E0D2BD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  <p:sldLayoutId id="2147483662" r:id="rId14"/>
    <p:sldLayoutId id="2147483663" r:id="rId15"/>
    <p:sldLayoutId id="2147483664" r:id="rId16"/>
    <p:sldLayoutId id="2147483666" r:id="rId17"/>
    <p:sldLayoutId id="2147483667" r:id="rId18"/>
    <p:sldLayoutId id="2147483665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6318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5462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002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52" userDrawn="1">
          <p15:clr>
            <a:srgbClr val="F26B43"/>
          </p15:clr>
        </p15:guide>
        <p15:guide id="5" pos="896" userDrawn="1">
          <p15:clr>
            <a:srgbClr val="F26B43"/>
          </p15:clr>
        </p15:guide>
        <p15:guide id="6" pos="1352" userDrawn="1">
          <p15:clr>
            <a:srgbClr val="F26B43"/>
          </p15:clr>
        </p15:guide>
        <p15:guide id="7" pos="1496" userDrawn="1">
          <p15:clr>
            <a:srgbClr val="F26B43"/>
          </p15:clr>
        </p15:guide>
        <p15:guide id="8" pos="1960" userDrawn="1">
          <p15:clr>
            <a:srgbClr val="F26B43"/>
          </p15:clr>
        </p15:guide>
        <p15:guide id="9" pos="2104" userDrawn="1">
          <p15:clr>
            <a:srgbClr val="F26B43"/>
          </p15:clr>
        </p15:guide>
        <p15:guide id="10" pos="2560" userDrawn="1">
          <p15:clr>
            <a:srgbClr val="F26B43"/>
          </p15:clr>
        </p15:guide>
        <p15:guide id="11" pos="2704" userDrawn="1">
          <p15:clr>
            <a:srgbClr val="F26B43"/>
          </p15:clr>
        </p15:guide>
        <p15:guide id="12" pos="3168" userDrawn="1">
          <p15:clr>
            <a:srgbClr val="F26B43"/>
          </p15:clr>
        </p15:guide>
        <p15:guide id="13" pos="3312" userDrawn="1">
          <p15:clr>
            <a:srgbClr val="F26B43"/>
          </p15:clr>
        </p15:guide>
        <p15:guide id="14" pos="3768" userDrawn="1">
          <p15:clr>
            <a:srgbClr val="F26B43"/>
          </p15:clr>
        </p15:guide>
        <p15:guide id="15" pos="3912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20" userDrawn="1">
          <p15:clr>
            <a:srgbClr val="F26B43"/>
          </p15:clr>
        </p15:guide>
        <p15:guide id="18" pos="4976" userDrawn="1">
          <p15:clr>
            <a:srgbClr val="F26B43"/>
          </p15:clr>
        </p15:guide>
        <p15:guide id="19" pos="5120" userDrawn="1">
          <p15:clr>
            <a:srgbClr val="F26B43"/>
          </p15:clr>
        </p15:guide>
        <p15:guide id="20" pos="5584" userDrawn="1">
          <p15:clr>
            <a:srgbClr val="F26B43"/>
          </p15:clr>
        </p15:guide>
        <p15:guide id="21" pos="5728" userDrawn="1">
          <p15:clr>
            <a:srgbClr val="F26B43"/>
          </p15:clr>
        </p15:guide>
        <p15:guide id="22" pos="6184" userDrawn="1">
          <p15:clr>
            <a:srgbClr val="F26B43"/>
          </p15:clr>
        </p15:guide>
        <p15:guide id="23" pos="6328" userDrawn="1">
          <p15:clr>
            <a:srgbClr val="F26B43"/>
          </p15:clr>
        </p15:guide>
        <p15:guide id="24" pos="6792" userDrawn="1">
          <p15:clr>
            <a:srgbClr val="F26B43"/>
          </p15:clr>
        </p15:guide>
        <p15:guide id="25" pos="6936" userDrawn="1">
          <p15:clr>
            <a:srgbClr val="F26B43"/>
          </p15:clr>
        </p15:guide>
        <p15:guide id="26" pos="7392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288" userDrawn="1">
          <p15:clr>
            <a:srgbClr val="F26B43"/>
          </p15:clr>
        </p15:guide>
        <p15:guide id="30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4966" y="1684430"/>
            <a:ext cx="9061802" cy="712781"/>
          </a:xfrm>
        </p:spPr>
        <p:txBody>
          <a:bodyPr/>
          <a:lstStyle/>
          <a:p>
            <a:r>
              <a:rPr dirty="0"/>
              <a:t>AIDLC 3 — Harness Loop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Making stochastic workers reliable · CPSC 490 · Fall 2026 · Week 3 of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244E"/>
                </a:solidFill>
              </a:rPr>
              <a:t>Kyoung Shin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89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SVP Enterprise Data Strategy and Infrastructure, CMG Financial · Cofounder/CTO, SonarX · Adjunct Faculty, CSUF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Today, in two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Hour 1 — the loop as an engineering object: gates, state machines, budgets, timeouts, idempotency.</a:t>
            </a:r>
          </a:p>
          <a:p>
            <a:r>
              <a:rPr sz="1600"/>
              <a:t>Break (10 min).</a:t>
            </a:r>
          </a:p>
          <a:p>
            <a:r>
              <a:rPr sz="1600"/>
              <a:t>Hour 2 — the immune system: janitors, escalation ladders, verification layers — illustrated by four incidents from ONE week of production, each with its fix.</a:t>
            </a:r>
          </a:p>
          <a:p>
            <a:r>
              <a:rPr sz="1600"/>
              <a:t>Exercise: design the minimum viable harness for your capstone.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 harness at 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An LLM is a brilliant, tireless, STOCHASTIC worker: the same request can produce different code, different files, different conclusions.</a:t>
            </a:r>
          </a:p>
          <a:p>
            <a:r>
              <a:rPr sz="1500"/>
              <a:t>Traditional software engineering assumes deterministic components; AIDLC cannot.</a:t>
            </a:r>
          </a:p>
          <a:p>
            <a:r>
              <a:rPr sz="1500"/>
              <a:t>The harness is everything wrapped around the model that converts 'usually right' into 'reliably shippable': gates, retries, budgets, state, alarms.</a:t>
            </a:r>
          </a:p>
          <a:p>
            <a:r>
              <a:rPr sz="1500"/>
              <a:t>Rule: capability comes from the model; RELIABILITY comes from the harness. You can rent the first. You must build the second.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THE CORE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074920"/>
            <a:ext cx="54864" cy="1143000"/>
          </a:xfrm>
          <a:prstGeom prst="rect">
            <a:avLst/>
          </a:prstGeom>
          <a:solidFill>
            <a:srgbClr val="297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10424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The model is the engine. The harness is the car — brakes, seatbelts, fuel gauge, and the dashboard light that says something is wrong.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minimal agentic loop (every framework is this)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while not done: model proposes (text or tool call) → harness EXECUTES the tool → harness appends the result → repeat. Caps on turns, cost, and time.</a:t>
            </a:r>
          </a:p>
          <a:p>
            <a:r>
              <a:rPr sz="1600"/>
              <a:t>Three interception points, and they're where all the engineering lives:</a:t>
            </a:r>
          </a:p>
          <a:p>
            <a:r>
              <a:rPr sz="1600"/>
              <a:t>BEFORE the tool runs: permissions (writable paths, allowed tools), argument validation, budget check.</a:t>
            </a:r>
          </a:p>
          <a:p>
            <a:r>
              <a:rPr sz="1600"/>
              <a:t>AFTER it runs: result truncation (context budget!), error normalization, evidence capture.</a:t>
            </a:r>
          </a:p>
          <a:p>
            <a:r>
              <a:rPr sz="1600"/>
              <a:t>AT THE END: output contract enforcement — the final-turn forcing you saw in Lecture 2.</a:t>
            </a:r>
          </a:p>
          <a:p>
            <a:r>
              <a:rPr sz="1600"/>
              <a:t>Your capstone version: a script that calls a model with your prompt, runs the tests, and loops until green or N attempts.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loop is a toy. A PIPELINE is an org.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issue → DoR gate → implement session (staged writes only) → pre-PR verdict gate → PR → cross-account auto-review → iterate (bounded) → CI → auto-merge → deploy → post-merge verification.</a:t>
            </a:r>
          </a:p>
          <a:p>
            <a:r>
              <a:rPr sz="1600"/>
              <a:t>Each stage: a QUEUE JOB with a payload, an owner, a timeout, and a defined failure path.</a:t>
            </a:r>
          </a:p>
          <a:p>
            <a:r>
              <a:rPr sz="1600"/>
              <a:t>Nothing calls anything synchronously across stages — queues decouple, so one stage's crash never strands another's work invisibly.</a:t>
            </a:r>
          </a:p>
          <a:p>
            <a:r>
              <a:rPr sz="1600"/>
              <a:t>Today's lecture is: what happens when each piece fails? (Everything fails.)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THE CASE-STUDY LOOP, AS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Gates: cheap checks before expensive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Definition-of-Ready gate: is the issue implementable? (acceptance criteria present, not a duplicate) — bounces junk before a $1 session.</a:t>
            </a:r>
          </a:p>
          <a:p>
            <a:r>
              <a:rPr sz="1600"/>
              <a:t>Pre-PR verdict gate: one sub-cent LLM call — 'does this staged diff plausibly advance the intent?' — bounces junk before a CI run + review session.</a:t>
            </a:r>
          </a:p>
          <a:p>
            <a:r>
              <a:rPr sz="1600"/>
              <a:t>Review gate: a DIFFERENT model account, with the CONSUMER RULE; author accounts cannot merge their own work.</a:t>
            </a:r>
          </a:p>
          <a:p>
            <a:r>
              <a:rPr sz="1600"/>
              <a:t>CI gate: typecheck, unit, e2e, polarity proofs. Auto-merge gate: mergeable + no human objection + not a zero-hunk diff.</a:t>
            </a:r>
          </a:p>
          <a:p>
            <a:r>
              <a:rPr sz="1600"/>
              <a:t>Design principle: order gates by cost — pennies before dollars, dollars before reviews, reviews before deploys.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machines: every state has an owner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Jobs claim atomically (SELECT … FOR UPDATE SKIP LOCKED) so two workers never grab the same task.</a:t>
            </a:r>
          </a:p>
          <a:p>
            <a:r>
              <a:rPr sz="1600"/>
              <a:t>But atomic claiming has a failure mode: the claimer DIES holding the claim. Orphaned 'processing' rows need a janitor that sweeps anything stale (&gt;30 min) back to a decidable state.</a:t>
            </a:r>
          </a:p>
          <a:p>
            <a:r>
              <a:rPr sz="1600"/>
              <a:t>Rule: for every state a work item can be in, name the actor that moves it out — including the states you only reach by crashing.</a:t>
            </a:r>
          </a:p>
          <a:p>
            <a:r>
              <a:rPr sz="1600"/>
              <a:t>If a state's answer is 'nobody', you have built a place where work goes to die. Production found several. Each became a janitor.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Idempotency and dedup: the storm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Incident class: a PR gets stranded → the picker sees the issue 'unclaimed' → re-implements it → DUPLICATE PR storm; dedup then closes the wrong one.</a:t>
            </a:r>
          </a:p>
          <a:p>
            <a:r>
              <a:rPr sz="1600"/>
              <a:t>Fixes, in layers: open-PR-as-source-of-truth (an open PR claims its issue), enqueue dedup (identical pending jobs collapse), stale-cache verification (a cached 'this PR exists' is checked against GitHub before trust).</a:t>
            </a:r>
          </a:p>
          <a:p>
            <a:r>
              <a:rPr sz="1600"/>
              <a:t>Idempotency rule: every retryable action must be safe to run twice — check-then-act on the CURRENT world, not on a memory of it.</a:t>
            </a:r>
          </a:p>
          <a:p>
            <a:r>
              <a:rPr sz="1600"/>
              <a:t>Your version: 'the script reran and now there are two rows / two PRs / two emails' — same disease, same cure.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Timeouts, budgets, and the 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Every network call gets an AbortSignal timeout — two 'hang until the platform kills us' bugs (an embedding call, a startup fetch) each looked like random worker death until timeouts made them loud.</a:t>
            </a:r>
          </a:p>
          <a:p>
            <a:r>
              <a:rPr sz="1600"/>
              <a:t>Two-layer budgets: per-session cost clamps (a wake aborts at its cap) + a paced daily budget (~2¢/min accrual) so a burst can't spend the day by 9 AM.</a:t>
            </a:r>
          </a:p>
          <a:p>
            <a:r>
              <a:rPr sz="1600"/>
              <a:t>Fail-closed on SPEND, fail-open on READ: refuse to spend when the ledger is unreadable; never block a read-only health check.</a:t>
            </a:r>
          </a:p>
          <a:p>
            <a:r>
              <a:rPr sz="1600"/>
              <a:t>Serverless wall: never await long work at the tail of a scheduled tick — sever the work into a queue job or the platform's wall clock will kill it mid-write.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973B6"/>
                </a:solidFill>
              </a:rPr>
              <a:t>Break — 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4A6076"/>
                </a:solidFill>
              </a:rPr>
              <a:t>Hour 2: the immune system — janitors, ladders, and four incidents from one production week.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immune system: janitors and sweeps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Empty-diff janitor: a PR whose head tree equals main is a no-op — close it with an audit comment, free its issue.</a:t>
            </a:r>
          </a:p>
          <a:p>
            <a:r>
              <a:rPr sz="1600"/>
              <a:t>Re-engage sweep: PRs with no pending work and no terminal state get re-entered into review (with the DURABLE depth counter — Lecture 2's museum #3).</a:t>
            </a:r>
          </a:p>
          <a:p>
            <a:r>
              <a:rPr sz="1600"/>
              <a:t>Zombie closers: sessions/jobs orphaned by crashes get swept to failure states that the ladder can see.</a:t>
            </a:r>
          </a:p>
          <a:p>
            <a:r>
              <a:rPr sz="1600"/>
              <a:t>Pattern: janitors are scheduled, boring, and auditable. They don't fix bugs — they convert silent wedges into visible, owned states.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escalation ladder: exhaustion is a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Iteration cap (per-project capacity, durable count) → on exhaustion: write a LESSON into the author-avatar's memory ('this is why it failed'), label, park.</a:t>
            </a:r>
          </a:p>
          <a:p>
            <a:r>
              <a:rPr sz="1600"/>
              <a:t>Operator senior re-attempt: a stronger model + full failure context takes ONE swing at parked work.</a:t>
            </a:r>
          </a:p>
          <a:p>
            <a:r>
              <a:rPr sz="1600"/>
              <a:t>If that fails → human hand-off with an explicit escalation comment. The ladder's last rung is a person, by design.</a:t>
            </a:r>
          </a:p>
          <a:p>
            <a:r>
              <a:rPr sz="1600"/>
              <a:t>Anti-pattern (learned the hard way): NEVER un-park by just removing the label — without fixing the blocker you re-enter the same doom loop at full price.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1: the empty-diff merge 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New reviewer rule (CONSUMER RULE) → avatars started RETRACTING unconsumed modules — staging a delete of their own file. Correct behavior!</a:t>
            </a:r>
          </a:p>
          <a:p>
            <a:r>
              <a:rPr sz="1600"/>
              <a:t>But a retraction empties the PR's diff… and the re-review APPROVED the now-empty diff ('nothing objectionable left') → auto-merge squashed a ZERO-CHANGE PR before the janitor's sweep.</a:t>
            </a:r>
          </a:p>
          <a:p>
            <a:r>
              <a:rPr sz="1600"/>
              <a:t>Fix: an empty-diff gate inside auto-merge itself (changed_files == 0 ⇒ refuse; janitor closes it). Gates must COMPOSE: a rule change upstream created a new race downstream.</a:t>
            </a:r>
          </a:p>
          <a:p>
            <a:r>
              <a:rPr sz="1600"/>
              <a:t>Meta-lesson: every new incentive produces new behavior; new behavior finds gaps between your gates.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7900"/>
                </a:solidFill>
              </a:rPr>
              <a:t>ONE WEEK, FOUR INCIDENTS — ALL REAL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2: the bot that looked human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Auto-merge backs off if any non-bot account commented (human override — a good safety).</a:t>
            </a:r>
          </a:p>
          <a:p>
            <a:r>
              <a:rPr sz="1600"/>
              <a:t>A new CI feature posted failure summaries as github-actions[bot] — not on the bot allowlist → every PR that EVER failed CI became permanently unmergeable.</a:t>
            </a:r>
          </a:p>
          <a:p>
            <a:r>
              <a:rPr sz="1600"/>
              <a:t>One PR burned its entire 7-round ladder + a senior attempt because each APPROVE's merge was silently refused.</a:t>
            </a:r>
          </a:p>
          <a:p>
            <a:r>
              <a:rPr sz="1600"/>
              <a:t>Fix: classify [bot]-suffixed accounts as automation. Lesson: allowlists rot; boundaries need CLASSES, not enumerations — and silent refusal is the real villain (log loudly).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3: semantic conflict — two greens make a 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PR A (route memory) and PR B (memory-aware dialogue) each passed CI on their own branch. MERGED TOGETHER, the NPC's line selection changed — and specs pinning exact dialogue strings broke ON MAIN.</a:t>
            </a:r>
          </a:p>
          <a:p>
            <a:r>
              <a:rPr sz="1600"/>
              <a:t>Nothing ran the e2e suite on main post-merge → main rotted silently; every innocent PR inherited the red and paid the tax.</a:t>
            </a:r>
          </a:p>
          <a:p>
            <a:r>
              <a:rPr sz="1600"/>
              <a:t>Fixes: (1) assert against the canonical copy MODULE, not duplicated literals; (2) a post-merge main-e2e lane that auto-files a P1 issue on failure and auto-closes it on green.</a:t>
            </a:r>
          </a:p>
          <a:p>
            <a:r>
              <a:rPr sz="1600"/>
              <a:t>Lesson: per-branch CI proves branches. Only main proves main. Alarm on the thing you actually ship.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4: silent deploy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A toolchain unpin changed the repo's types; the deploy workflow pinned its OWN copy of the old tool → prod deploys failed three times in a row, silently. Merged work stopped reaching players; only a human eventually noticed.</a:t>
            </a:r>
          </a:p>
          <a:p>
            <a:r>
              <a:rPr sz="1600"/>
              <a:t>Fix 1: align the pinned versions (one source of truth for tool versions).</a:t>
            </a:r>
          </a:p>
          <a:p>
            <a:r>
              <a:rPr sz="1600"/>
              <a:t>Fix 2 (the real one): a notify-failure job — deploy failure auto-files an agent-visible P1; a green deploy auto-closes it.</a:t>
            </a:r>
          </a:p>
          <a:p>
            <a:r>
              <a:rPr sz="1600"/>
              <a:t>Pattern across all four: convert silence into a state the system itself can see and act on. The org now files its own infrastructure bugs.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layers: the outage shield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Unit tests: fast, per-function truth. Tripwire tests: source-level pins on harness WIRING ('this file still passes finalTurnPrompt') — they catch 'someone deleted the code path'.</a:t>
            </a:r>
          </a:p>
          <a:p>
            <a:r>
              <a:rPr sz="1600"/>
              <a:t>E2E: every production bug is a missed scenario — the standing rule is 'user-reported bug ⇒ an e2e in the fix PR that fails unfixed, passes fixed'.</a:t>
            </a:r>
          </a:p>
          <a:p>
            <a:r>
              <a:rPr sz="1600"/>
              <a:t>RED-GREEN polarity gates: don't just prove the test passes — prove it CATCHES the break. Run the suite against a deliberately-broken build and INVERT the exit code; if the broken build passes, your guard is decorative.</a:t>
            </a:r>
          </a:p>
          <a:p>
            <a:r>
              <a:rPr sz="1600"/>
              <a:t>That inversion is the cheapest deep idea in this course. Use it in your capstone.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Observability: the tick, the ledger, the self-filed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An hourly monitor tick: failed/stale jobs, parked PRs, cost anomalies, silent deaths — one screen, one minute, every hour.</a:t>
            </a:r>
          </a:p>
          <a:p>
            <a:r>
              <a:rPr sz="1600"/>
              <a:t>Ledgers for everything with a budget: spend per surface, skips with reasons, attempts per merge.</a:t>
            </a:r>
          </a:p>
          <a:p>
            <a:r>
              <a:rPr sz="1600"/>
              <a:t>The newest layer you saw born this week: infrastructure that FILES ITS OWN ISSUES (main-RED, deploy-RED) so the autonomous org repairs its own plumbing.</a:t>
            </a:r>
          </a:p>
          <a:p>
            <a:r>
              <a:rPr sz="1600"/>
              <a:t>Observability question for your project: 'if this broke at 3 AM, what would notice?' If the answer is 'the demo', add an alarm.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build a harness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Harness code is real code: it has bugs (you just saw four), needs tests, and consumes the attention it was meant to save.</a:t>
            </a:r>
          </a:p>
          <a:p>
            <a:r>
              <a:rPr sz="1600"/>
              <a:t>One developer + HITL + a good test suite beats a half-built harness every time. Build gates when VOLUME makes approvals the bottleneck, not before.</a:t>
            </a:r>
          </a:p>
          <a:p>
            <a:r>
              <a:rPr sz="1600"/>
              <a:t>The maturity ladder: (1) scripted task + manual check → (2) CI gate → (3) auto-review comment → (4) bounded agent loop → (5) self-healing pipeline. Climb one rung at a time, only when the current rung is the bottleneck.</a:t>
            </a:r>
          </a:p>
          <a:p>
            <a:r>
              <a:rPr sz="1600"/>
              <a:t>Your capstone should end the semester solidly on rung 2–3. That's not a consolation prize — that's where most industry teams are.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In-class exercise — minimum viable harness for your 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Draw your pipeline: where does AI-generated code enter, and what stands between it and your main branch?</a:t>
            </a:r>
          </a:p>
          <a:p>
            <a:r>
              <a:rPr sz="1600"/>
              <a:t>Specify: (1) your gates in cost order; (2) one janitor (what silent failure will you sweep, how often?); (3) your red-green pair — the deliberate break that proves your best test is honest; (4) the one alarm you'd want at 3 AM.</a:t>
            </a:r>
          </a:p>
          <a:p>
            <a:r>
              <a:rPr sz="1600"/>
              <a:t>Budget it: how many AI calls/dollars per week, and what stops a runaway loop?</a:t>
            </a:r>
          </a:p>
          <a:p>
            <a:r>
              <a:rPr sz="1600"/>
              <a:t>Steal freely from today's slides — that is the point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7900"/>
                </a:solidFill>
              </a:rPr>
              <a:t>HANDS-ON · 25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94960"/>
            <a:ext cx="54864" cy="9144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9496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Deliverable: one-page harness design in your repo (docs/harness.md) — it becomes part of your proposal's Required Environment section.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 + next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Reliability comes from the harness: gates in cost order, owned states, idempotent retries, budgets with walls, and an immune system of janitors and ladders.</a:t>
            </a:r>
          </a:p>
          <a:p>
            <a:r>
              <a:rPr sz="1600"/>
              <a:t>Four one-week incidents: composed gates, classed boundaries, main-proves-main, and alarms instead of silence.</a:t>
            </a:r>
          </a:p>
          <a:p>
            <a:r>
              <a:rPr sz="1600"/>
              <a:t>Red-green polarity: prove your guards catch the break, not just that tests pass.</a:t>
            </a:r>
          </a:p>
          <a:p>
            <a:r>
              <a:rPr sz="1600"/>
              <a:t>Next week — Benchmarks, Quality &amp; ROI: how to measure any of this honestly, including the money.</a:t>
            </a:r>
          </a:p>
          <a:p>
            <a:r>
              <a:rPr sz="1600"/>
              <a:t>Reading: oodim.com/about/autonomous-engineering.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UF">
      <a:dk1>
        <a:srgbClr val="00244E"/>
      </a:dk1>
      <a:lt1>
        <a:srgbClr val="FFFFFF"/>
      </a:lt1>
      <a:dk2>
        <a:srgbClr val="222222"/>
      </a:dk2>
      <a:lt2>
        <a:srgbClr val="EBEBEB"/>
      </a:lt2>
      <a:accent1>
        <a:srgbClr val="00244E"/>
      </a:accent1>
      <a:accent2>
        <a:srgbClr val="2973B6"/>
      </a:accent2>
      <a:accent3>
        <a:srgbClr val="8ACCE4"/>
      </a:accent3>
      <a:accent4>
        <a:srgbClr val="FF7900"/>
      </a:accent4>
      <a:accent5>
        <a:srgbClr val="EDA941"/>
      </a:accent5>
      <a:accent6>
        <a:srgbClr val="F3CD47"/>
      </a:accent6>
      <a:hlink>
        <a:srgbClr val="99B3B9"/>
      </a:hlink>
      <a:folHlink>
        <a:srgbClr val="DF6436"/>
      </a:folHlink>
    </a:clrScheme>
    <a:fontScheme name="CSUF-Theme-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UF-PPT-1-A.potx" id="{E13FE947-1374-4EFE-A238-7BFC20D6E167}" vid="{777727EA-B4F9-40AF-8260-CC2A141DB6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CSUF-PPT-1-A</Template>
  <TotalTime>98</TotalTime>
  <Words>2344</Words>
  <Application>Microsoft Office PowerPoint</Application>
  <PresentationFormat>Widescreen</PresentationFormat>
  <Paragraphs>111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Wingdings</vt:lpstr>
      <vt:lpstr>Office Theme</vt:lpstr>
      <vt:lpstr>AIDLC 3 — Harness Loop Engineering</vt:lpstr>
      <vt:lpstr>Today, in two hours</vt:lpstr>
      <vt:lpstr>Why a harness at all</vt:lpstr>
      <vt:lpstr>The minimal agentic loop (every framework is this)</vt:lpstr>
      <vt:lpstr>One loop is a toy. A PIPELINE is an org.</vt:lpstr>
      <vt:lpstr>Gates: cheap checks before expensive steps</vt:lpstr>
      <vt:lpstr>State machines: every state has an owner</vt:lpstr>
      <vt:lpstr>Idempotency and dedup: the storm pattern</vt:lpstr>
      <vt:lpstr>Timeouts, budgets, and the wall</vt:lpstr>
      <vt:lpstr>PowerPoint Presentation</vt:lpstr>
      <vt:lpstr>The immune system: janitors and sweeps</vt:lpstr>
      <vt:lpstr>The escalation ladder: exhaustion is a feature</vt:lpstr>
      <vt:lpstr>Incident 1: the empty-diff merge race</vt:lpstr>
      <vt:lpstr>Incident 2: the bot that looked human</vt:lpstr>
      <vt:lpstr>Incident 3: semantic conflict — two greens make a red</vt:lpstr>
      <vt:lpstr>Incident 4: silent deploy failures</vt:lpstr>
      <vt:lpstr>Verification layers: the outage shield</vt:lpstr>
      <vt:lpstr>Observability: the tick, the ledger, the self-filed issue</vt:lpstr>
      <vt:lpstr>When NOT to build a harness</vt:lpstr>
      <vt:lpstr>In-class exercise — minimum viable harness for your capstone</vt:lpstr>
      <vt:lpstr>Wrap +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Kyoung Seop Shin</dc:creator>
  <cp:lastModifiedBy>Kyoung Seop Shin</cp:lastModifiedBy>
  <cp:revision>27</cp:revision>
  <cp:lastPrinted>2023-01-31T22:42:47Z</cp:lastPrinted>
  <dcterms:created xsi:type="dcterms:W3CDTF">2026-03-14T10:11:27Z</dcterms:created>
  <dcterms:modified xsi:type="dcterms:W3CDTF">2026-08-10T18:28:03Z</dcterms:modified>
</cp:coreProperties>
</file>