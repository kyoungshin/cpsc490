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9220200" cy="6934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14" y="6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ung Seop Shin" userId="f2ba2a935e95c03a" providerId="LiveId" clId="{11050786-4135-465F-A8C1-70F97DC79668}"/>
    <pc:docChg chg="modSld">
      <pc:chgData name="Kyoung Seop Shin" userId="f2ba2a935e95c03a" providerId="LiveId" clId="{11050786-4135-465F-A8C1-70F97DC79668}" dt="2026-08-10T18:28:45.681" v="1" actId="14100"/>
      <pc:docMkLst>
        <pc:docMk/>
      </pc:docMkLst>
      <pc:sldChg chg="modSp mod">
        <pc:chgData name="Kyoung Seop Shin" userId="f2ba2a935e95c03a" providerId="LiveId" clId="{11050786-4135-465F-A8C1-70F97DC79668}" dt="2026-08-10T18:28:45.681" v="1" actId="14100"/>
        <pc:sldMkLst>
          <pc:docMk/>
          <pc:sldMk cId="0" sldId="256"/>
        </pc:sldMkLst>
        <pc:spChg chg="mod">
          <ac:chgData name="Kyoung Seop Shin" userId="f2ba2a935e95c03a" providerId="LiveId" clId="{11050786-4135-465F-A8C1-70F97DC79668}" dt="2026-08-10T18:28:45.681" v="1" actId="14100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B4BBF73-BFE4-9675-AF97-BCBB5DD951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348BF-5159-860D-10C2-C403B13121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235382CB-D6B4-48E5-AFFD-4242D787BD27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61FAE-A38B-F089-F551-02119E9436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757FF-1DEF-1FD8-299F-05A2B93DBD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6805305-0FA5-4D91-9E96-34E4B06C1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951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l">
              <a:defRPr sz="1200"/>
            </a:lvl1pPr>
          </a:lstStyle>
          <a:p>
            <a:r>
              <a:rPr lang="en-US"/>
              <a:t>Cal State Fullerton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22646" y="1"/>
            <a:ext cx="3995420" cy="347914"/>
          </a:xfrm>
          <a:prstGeom prst="rect">
            <a:avLst/>
          </a:prstGeom>
        </p:spPr>
        <p:txBody>
          <a:bodyPr vert="horz" lIns="92309" tIns="46154" rIns="92309" bIns="46154" rtlCol="0"/>
          <a:lstStyle>
            <a:lvl1pPr algn="r">
              <a:defRPr sz="1200"/>
            </a:lvl1pPr>
          </a:lstStyle>
          <a:p>
            <a:fld id="{F76BFB3A-AF09-4935-935F-AADA8F949CAB}" type="datetime2">
              <a:rPr lang="en-US" smtClean="0"/>
              <a:t>Monday, August 10,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30475" y="866775"/>
            <a:ext cx="4159250" cy="2339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09" tIns="46154" rIns="92309" bIns="4615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2020" y="3337083"/>
            <a:ext cx="7376160" cy="2730342"/>
          </a:xfrm>
          <a:prstGeom prst="rect">
            <a:avLst/>
          </a:prstGeom>
        </p:spPr>
        <p:txBody>
          <a:bodyPr vert="horz" lIns="92309" tIns="46154" rIns="92309" bIns="4615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l">
              <a:defRPr sz="1200"/>
            </a:lvl1pPr>
          </a:lstStyle>
          <a:p>
            <a:r>
              <a:rPr lang="en-US"/>
              <a:t>PowerPoint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22646" y="6586287"/>
            <a:ext cx="3995420" cy="347913"/>
          </a:xfrm>
          <a:prstGeom prst="rect">
            <a:avLst/>
          </a:prstGeom>
        </p:spPr>
        <p:txBody>
          <a:bodyPr vert="horz" lIns="92309" tIns="46154" rIns="92309" bIns="46154" rtlCol="0" anchor="b"/>
          <a:lstStyle>
            <a:lvl1pPr algn="r">
              <a:defRPr sz="1200"/>
            </a:lvl1pPr>
          </a:lstStyle>
          <a:p>
            <a:fld id="{6CEC07C6-E753-4FD7-8B29-F8EE9ACF2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0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60D1107-8030-B797-4B87-27162CBEC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2FEB7A-903A-4EEE-AA9F-5CF80DFB47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24966" y="1684430"/>
            <a:ext cx="6474434" cy="1644603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38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661CA-9166-485C-902F-B2443990F4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24966" y="3581458"/>
            <a:ext cx="6474434" cy="1474521"/>
          </a:xfr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Sub-topic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408B901-9186-DB29-4FA5-21BBC02462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24966" y="5215204"/>
            <a:ext cx="6474434" cy="58102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Date –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28424F-46DB-9E00-71BB-100694C197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9699" y="1151832"/>
            <a:ext cx="2654301" cy="2857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348C61-C2A2-4A56-876B-5AF63339A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632F96-4936-05C3-1FC7-217E020F5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8C9C630-A663-62AC-38A7-92A9D717E9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351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8E13B0-1471-FD09-C552-5AB1C9B71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FD9B1-DD15-4DA0-BD0F-5599945158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11430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9763-7D65-429F-BD59-75DBFB945B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11269766" cy="2981325"/>
          </a:xfr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lnSpc>
                <a:spcPct val="100000"/>
              </a:lnSpc>
              <a:defRPr>
                <a:solidFill>
                  <a:schemeClr val="tx2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2"/>
                </a:solidFill>
              </a:defRPr>
            </a:lvl5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0B26-DCBA-41F6-B791-F51413EC6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9B9A15-1058-6D5F-9D91-7F183BF61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7AD375C-0981-EAD1-40D6-C1E06F8C38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A6B4D7EF-C9F8-3DA0-05D5-FC74F20B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978BF5-E404-2C42-09EC-B1DE94DD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7B580FEA-8678-95DF-BFE1-2B22934502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06C505-229C-CADE-EACC-2CB72C7BB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4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42-C647-41FB-9068-CDEDA3581F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199"/>
            <a:ext cx="7434366" cy="1371600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280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C1A5-3969-44EB-8F46-5E7473A805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2057400"/>
            <a:ext cx="7434366" cy="403225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content (Paste Special – Unformatted Text).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F1C3BE-B545-33FB-C631-A328427E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0DFEB-47D6-6DF6-B70A-457EB4023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51BDB93-2D43-31ED-9DBD-6CBBFB9FEE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98C910C-E2C5-B46A-E5EA-C13AE9233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A09A87-DADE-FD4E-2100-98AA215384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3850DAB-085C-D134-5B64-056E493697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8000" y="137158"/>
            <a:ext cx="3606800" cy="6263642"/>
          </a:xfrm>
        </p:spPr>
        <p:txBody>
          <a:bodyPr anchor="t"/>
          <a:lstStyle>
            <a:lvl1pPr marL="0" indent="0" algn="l">
              <a:buFont typeface="+mj-lt"/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FB5CBC9-7473-C7A0-F53B-C46F012E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771E7F9-98B9-9C4C-825A-FCCE858F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C5A3EAC-2CBF-F14E-0A50-B2D8FB7A2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316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2C01-955E-4B21-9482-B5AB906BB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9766" cy="1143000"/>
          </a:xfrm>
        </p:spPr>
        <p:txBody>
          <a:bodyPr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B74F1-5F38-4720-A95A-885766F6ACB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F4D07-F63D-B222-2C01-19C60131B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5E0011-B84D-B0D8-9A8B-AFB475AAC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21C53ED-50CD-EA79-C4ED-23BCDB7D9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36BE8-50A0-2BCE-4CE4-0FC35FB84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A1ED0F-70E3-B15F-6C79-F96782D35B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61778D8-6E8B-41F7-8E93-1934FCA5F238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2466" y="1824037"/>
            <a:ext cx="5524500" cy="3503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AFD5D8-BC9E-7745-7FB5-D1782F99E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3AFD25-113A-0974-A2A5-67196CCF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6B96A8C-E821-A6A4-A8AE-DAEF8298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28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19551-FA4B-49C5-A55E-E19426F293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11269766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BB0EA-2287-408C-BD4B-0102249F22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1828800"/>
            <a:ext cx="5516666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DFEB5A-2EB1-468C-846E-5F6289E42E0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65034" y="2514601"/>
            <a:ext cx="5516666" cy="350758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F103-0F55-45E8-9258-C4127A04AE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0302" y="1828801"/>
            <a:ext cx="5524498" cy="4572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98080-3E5E-4011-AB0E-15A5C81E1C06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8134" y="2514601"/>
            <a:ext cx="5516666" cy="350758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on six (6) icons below or add text content here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68275B-3C88-F0A2-56B6-003AE47F3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C6A3A8-53D1-C2EF-3210-E4CA80422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CD1B63-72FE-0C9E-9EF7-4AF3431D36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A4B6FB-D719-D3C9-AC20-4FC1599E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62B28E-0BDF-8515-B2A7-7ECC20169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3D3079-D851-B257-667E-B59FC70E3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614A242-1B0A-B2D4-8D8D-C71807DDA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B7BDC03-DA15-D89E-4C20-254951F70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74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55167-48D8-484C-995D-B70E4EF072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61933" cy="1143000"/>
          </a:xfrm>
        </p:spPr>
        <p:txBody>
          <a:bodyPr/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A5C63C-D34B-FE98-F248-679B7CA7F5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E79832-4F57-EFBB-EDE1-5629E4E25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D5AA708-0BF2-24B3-26F2-29981F321B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9B085E5-28FF-2098-78AD-3E86D65A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7F29EF-FC77-9966-5F68-A9E0FB4D7A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DAD6ADA-5D62-344E-7910-E0B9AE42B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8D2E-2114-DF81-6F90-96E71DF2D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F122-BE1F-7021-BEFC-C1B2EBED3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4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13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A5DAC-5D95-4CAE-B000-01F3BCC785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606800" cy="130201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94A82-3A44-4F74-9656-A7FA2B6C27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2600" y="457201"/>
            <a:ext cx="7434366" cy="5403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on six (6) icons below or add text content here (Paste Special – Unformatted </a:t>
            </a:r>
            <a:r>
              <a:rPr lang="en-US" dirty="0" err="1"/>
              <a:t>ext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2A14B6-91FA-4C49-A8C8-8AF2A5F19E7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987812"/>
            <a:ext cx="3606800" cy="3881176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584554-3079-F08F-71BB-060A7D5D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D0FAF0-FB41-72EE-F3B0-6D6A674C1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E938BF7-0154-1DFC-7BA2-A1AAD69B7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BF35A61-BCCA-196E-6EAF-76B210056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33226D-B66F-CF2B-2196-1425CB8ADEA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340639-B338-6C6A-C40D-9DAFD482B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D3F9127-B09C-E7BD-DA0C-7F58890C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A19CF86-EEE3-0502-4E9D-E35CF2D7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8F79-451A-4009-9133-D541041AEB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034" y="457200"/>
            <a:ext cx="4557816" cy="1322962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5CE3D4-DB93-438D-9D02-ECFECC921D8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251450" y="457201"/>
            <a:ext cx="6475516" cy="54038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Click icon to add picture.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B6080E-7679-4AFC-988F-314BB28E7AE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65034" y="2016698"/>
            <a:ext cx="4557816" cy="38522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content (Paste Special – Unformatted Text).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E24662-55E4-6C20-ECBD-48A9EACE8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62719-D189-53F1-1439-7AC46BC48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247D8EA-2955-A48F-6253-7F09612C6C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B1138D-14E6-6D05-1845-93D4CE9E3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C59D944-FF87-407C-4F17-23B6D4797F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A6DEDB-C233-8B9C-974B-9905C06B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AC5AF8C-A25D-B007-8476-CE8581EB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02E88B5-AAAD-1CE3-3D34-1A6D22961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C78-FBC6-4C35-9052-2895C15C8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9700" y="457200"/>
            <a:ext cx="9372600" cy="123348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0A02A-1CE4-48D0-88C1-01F73CCCBD5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1FCD77-8602-7D41-8B9A-91D5D286D7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C7A3BF-CF20-3A41-88F9-23CFD85E3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A06B363-B32C-B094-3427-F82BD0D834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B728A9C-9FB6-0C76-EB1D-1206A3471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B1F503B-1E5A-06CE-17DB-1F7E05A195F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2BE8134-D42C-4177-E261-9A045BA5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22CF19-1B2D-BD22-5095-D90D9A2D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38F9D8D-924F-7F30-E920-15549695B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8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A1871-E3DC-4D86-AB8F-F86507E69AAB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10045700" y="457199"/>
            <a:ext cx="1681266" cy="5719763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342906-3002-4C4B-B23A-55CDF75EE23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5034" y="457199"/>
            <a:ext cx="9352066" cy="571976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 dirty="0"/>
              <a:t>Click to add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40B034-0076-53DB-8382-394D354DD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68DC6-04BA-3226-24E2-C62185DC8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440ADF9-C347-7064-EC60-A3D0FDC3B40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4CB2B9F-859C-F5E7-4E33-3B5A2DBAC9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06559A6-DAE2-398E-B680-FB2906C269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A55691-BBCE-8076-B691-B5E94E55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15BE92-3A99-0373-D539-0B576AE2B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C37446-79FB-572C-7DCB-0CD811A14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233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EC3919-549F-F494-1E48-FD7186AFC6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6525"/>
            <a:ext cx="12192000" cy="62642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FFB6F98-60FB-F02E-D996-6BDFC477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A613E0-60FF-15CE-4F46-1BF54A34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ED0E2D-2479-F2D1-2CBD-72AE1290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49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457200"/>
            <a:ext cx="3606800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2857C626-DF9D-E7AB-3AFA-05345F21F3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96743" y="457199"/>
            <a:ext cx="2675557" cy="1768475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75500" y="457199"/>
            <a:ext cx="4559300" cy="5596358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934FF787-DC80-3156-D3BD-019FBF50A8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5033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FA82F61-AF57-E84A-750C-45638A2196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385494" y="2454274"/>
            <a:ext cx="1681267" cy="1670466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D986500E-3699-D3B6-3DA3-B0299ABE50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4439" y="4353339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D8792BD5-F572-13A0-BA6C-BCB139EF9F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374900" y="4353338"/>
            <a:ext cx="1681267" cy="1700219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63577AAA-8D0D-60BB-5F18-56705AE3B7D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90117" y="2454274"/>
            <a:ext cx="2682183" cy="3599283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E608273-8F15-BEF6-D0A4-45FCC423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D546E59-2FA9-0BAD-FCA6-A890382C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7DA3D65-0672-4492-51B0-37F283A8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94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561975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5924014-CAF7-9BFC-4601-77B60022CF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19750" y="137158"/>
            <a:ext cx="6572250" cy="6263642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BD0C482-8E97-9661-A2FE-6F945FBC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A924023-DC84-EA06-8EF6-F504B5A6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522EB88-C5EC-E0A5-377A-92D98D97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8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– Photo Galler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4799B7-956F-8F8E-A6D0-1086CBDD7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E199EF-0720-7A66-5E98-DFB13B74FC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B9C7F0A-DC27-EC72-9605-CB9320CDF0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B01B18-168E-A511-EEE3-DEF0D7546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808C6C4-490A-6565-2C66-8D2D2A5DAC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450A3E7-E00B-4CCA-F357-C95EBEB82E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35756"/>
            <a:ext cx="3111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B985741E-0695-2E3E-97A1-5EFA37AD05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11500" y="135756"/>
            <a:ext cx="3098799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9B6E876-DAE9-4045-ED49-71E5F90B14F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10300" y="135756"/>
            <a:ext cx="31242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A9703F14-6248-3D37-81B7-D2A41BA31A3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135756"/>
            <a:ext cx="2857500" cy="6265044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ts val="12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7EBB35F-0F93-1F0D-D4F4-FB9C648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9DEA1D0-5FB2-2C63-4E09-09E2322E5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3D2DFDC-39C9-F066-5E0B-C4D8D34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368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1503" y="243929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6103" y="2439296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806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606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4272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840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BD03EAD9-8192-0A40-EC71-9930F76C86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500" y="2455095"/>
            <a:ext cx="2295793" cy="28499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59D121A-7CDD-4AA1-6502-832E9E26C48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5374" y="2459006"/>
            <a:ext cx="2295793" cy="28499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48101ADE-3572-2FB6-B261-589BBEC312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5168" y="2439110"/>
            <a:ext cx="2295793" cy="284995"/>
          </a:xfrm>
          <a:prstGeom prst="rect">
            <a:avLst/>
          </a:prstGeom>
        </p:spPr>
      </p:pic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15078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541617" y="1739448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32770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5284" y="1735972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261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– Milest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660F1517-FC1F-8F5E-2904-D9677FD60D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67955" y="2441448"/>
            <a:ext cx="1023620" cy="2834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38138DF-C38E-BA90-AF76-973AEE9550F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642" y="2441448"/>
            <a:ext cx="1023620" cy="2834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72FDB2AD-74BE-CF30-463A-485927801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3465" y="2441448"/>
            <a:ext cx="1023620" cy="2834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0C03EA6-4030-9A84-B8D8-4DF99E7F27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0200" y="2441448"/>
            <a:ext cx="1023620" cy="2834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35D524-4E1A-01C1-6161-94CA241DF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ACC300C-FAD7-3549-67F4-FCF344B7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47F803D-1EF4-9E0C-A4A2-D687ED147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B9B19902-6CCB-FC62-C8DC-12EDBD6F8FB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8812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FEE1DEF9-85F9-F0E1-4A3F-6E387679E9C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83635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54C9E14-50A2-D0DC-E0B2-FC5D7072AA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37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B7107F3-6464-30B8-F018-5D57A9A703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35880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4DCBA207-2BE8-4691-9DD3-4E6135E1C2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31389" y="1737360"/>
            <a:ext cx="1691640" cy="1691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txBody>
          <a:bodyPr/>
          <a:lstStyle>
            <a:lvl1pPr marL="0" indent="0">
              <a:buNone/>
              <a:defRPr/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39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361310-3B9B-7BDF-03EB-C74453448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"/>
            <a:ext cx="121920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60D509-E524-BFC8-BF4E-68E14A99B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54814" y="0"/>
            <a:ext cx="1637186" cy="1371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9EDA485-5E5E-F7CB-5749-325DB11EF1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87437" y="-1"/>
            <a:ext cx="180975" cy="13715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4745EE-65A7-EA0B-B978-1073357E4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  <a:noFill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C2A662-1F18-EF5E-F2B9-A107988F3C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5033" y="6541227"/>
            <a:ext cx="1681267" cy="18101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9EA53D-8089-84F9-4DC9-82117803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550" y="6400800"/>
            <a:ext cx="722416" cy="457200"/>
          </a:xfrm>
        </p:spPr>
        <p:txBody>
          <a:bodyPr lIns="0" tIns="0" rIns="0" bIns="0" anchor="ctr"/>
          <a:lstStyle>
            <a:lvl1pPr>
              <a:defRPr lang="en-US" sz="1000" smtClean="0">
                <a:solidFill>
                  <a:schemeClr val="bg1"/>
                </a:solidFill>
              </a:defRPr>
            </a:lvl1pPr>
          </a:lstStyle>
          <a:p>
            <a:fld id="{E2E280E9-2294-4CEC-A84B-061E0D2BDE9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828DF3-D24D-308E-61FE-CEBC8C2DBD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33750" y="6400800"/>
            <a:ext cx="1681266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9DC4D77-2829-ABBD-C2FE-B65622A5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57800" y="6400800"/>
            <a:ext cx="5524500" cy="457200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C162E8-B29C-AC64-05DB-717CC5D7B501}"/>
              </a:ext>
            </a:extLst>
          </p:cNvPr>
          <p:cNvSpPr/>
          <p:nvPr userDrawn="1"/>
        </p:nvSpPr>
        <p:spPr>
          <a:xfrm>
            <a:off x="465033" y="457200"/>
            <a:ext cx="5516667" cy="558165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039AF46-57A7-26B6-1F11-79C97BC97C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5516668" cy="994411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/>
            </a:lvl1pPr>
          </a:lstStyle>
          <a:p>
            <a:r>
              <a:rPr lang="en-US" dirty="0"/>
              <a:t>Click to add content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6DFB476-43CE-0ED5-7CC2-A2BE569035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50216" y="1472908"/>
            <a:ext cx="2146300" cy="2009775"/>
          </a:xfrm>
          <a:prstGeom prst="ellipse">
            <a:avLst/>
          </a:prstGeom>
          <a:ln w="38100">
            <a:solidFill>
              <a:schemeClr val="accent4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1C30D1D-B94F-85B3-97D0-5DC307721DA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65034" y="5086350"/>
            <a:ext cx="5524498" cy="952499"/>
          </a:xfrm>
        </p:spPr>
        <p:txBody>
          <a:bodyPr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contact information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1202D5C-2479-42DD-8C1C-23D5587484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0299" y="457200"/>
            <a:ext cx="5524501" cy="5581650"/>
          </a:xfrm>
        </p:spPr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939C9F5-97BE-3396-5707-F78FD1813F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3503981"/>
            <a:ext cx="5508625" cy="711939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4F3DA48-53E5-4844-128B-2607ED2A139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5032" y="4215921"/>
            <a:ext cx="5508625" cy="870428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sz="1600" b="1"/>
            </a:lvl1pPr>
          </a:lstStyle>
          <a:p>
            <a:pPr lvl="0"/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0770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9FC896-AEEF-411B-AA62-896E4A3C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0" y="457200"/>
            <a:ext cx="9359900" cy="1143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EEF78-3D71-42CA-8591-2FA2B59A1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049" y="1828800"/>
            <a:ext cx="9359899" cy="37781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 content (Paste Special – Unformatted text).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BD220-EB1E-4FF4-957C-FD4F4EE1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5034" y="6407625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3FBA-75B2-4185-8DE0-0B9F6F5B2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750" y="6407624"/>
            <a:ext cx="5524500" cy="4503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81788-3541-4E58-9D27-86F22D4DE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86850" y="6400800"/>
            <a:ext cx="2640116" cy="4503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280E9-2294-4CEC-A84B-061E0D2BD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2" r:id="rId14"/>
    <p:sldLayoutId id="2147483663" r:id="rId15"/>
    <p:sldLayoutId id="2147483664" r:id="rId16"/>
    <p:sldLayoutId id="2147483666" r:id="rId17"/>
    <p:sldLayoutId id="2147483667" r:id="rId18"/>
    <p:sldLayoutId id="2147483665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1pPr>
      <a:lvl2pPr marL="6318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1546225" indent="-17462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00250" indent="-17145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 typeface="Wingdings" panose="05000000000000000000" pitchFamily="2" charset="2"/>
        <a:buChar char="§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52" userDrawn="1">
          <p15:clr>
            <a:srgbClr val="F26B43"/>
          </p15:clr>
        </p15:guide>
        <p15:guide id="5" pos="896" userDrawn="1">
          <p15:clr>
            <a:srgbClr val="F26B43"/>
          </p15:clr>
        </p15:guide>
        <p15:guide id="6" pos="1352" userDrawn="1">
          <p15:clr>
            <a:srgbClr val="F26B43"/>
          </p15:clr>
        </p15:guide>
        <p15:guide id="7" pos="1496" userDrawn="1">
          <p15:clr>
            <a:srgbClr val="F26B43"/>
          </p15:clr>
        </p15:guide>
        <p15:guide id="8" pos="1960" userDrawn="1">
          <p15:clr>
            <a:srgbClr val="F26B43"/>
          </p15:clr>
        </p15:guide>
        <p15:guide id="9" pos="2104" userDrawn="1">
          <p15:clr>
            <a:srgbClr val="F26B43"/>
          </p15:clr>
        </p15:guide>
        <p15:guide id="10" pos="2560" userDrawn="1">
          <p15:clr>
            <a:srgbClr val="F26B43"/>
          </p15:clr>
        </p15:guide>
        <p15:guide id="11" pos="2704" userDrawn="1">
          <p15:clr>
            <a:srgbClr val="F26B43"/>
          </p15:clr>
        </p15:guide>
        <p15:guide id="12" pos="3168" userDrawn="1">
          <p15:clr>
            <a:srgbClr val="F26B43"/>
          </p15:clr>
        </p15:guide>
        <p15:guide id="13" pos="3312" userDrawn="1">
          <p15:clr>
            <a:srgbClr val="F26B43"/>
          </p15:clr>
        </p15:guide>
        <p15:guide id="14" pos="3768" userDrawn="1">
          <p15:clr>
            <a:srgbClr val="F26B43"/>
          </p15:clr>
        </p15:guide>
        <p15:guide id="15" pos="3912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20" userDrawn="1">
          <p15:clr>
            <a:srgbClr val="F26B43"/>
          </p15:clr>
        </p15:guide>
        <p15:guide id="18" pos="4976" userDrawn="1">
          <p15:clr>
            <a:srgbClr val="F26B43"/>
          </p15:clr>
        </p15:guide>
        <p15:guide id="19" pos="5120" userDrawn="1">
          <p15:clr>
            <a:srgbClr val="F26B43"/>
          </p15:clr>
        </p15:guide>
        <p15:guide id="20" pos="5584" userDrawn="1">
          <p15:clr>
            <a:srgbClr val="F26B43"/>
          </p15:clr>
        </p15:guide>
        <p15:guide id="21" pos="5728" userDrawn="1">
          <p15:clr>
            <a:srgbClr val="F26B43"/>
          </p15:clr>
        </p15:guide>
        <p15:guide id="22" pos="6184" userDrawn="1">
          <p15:clr>
            <a:srgbClr val="F26B43"/>
          </p15:clr>
        </p15:guide>
        <p15:guide id="23" pos="6328" userDrawn="1">
          <p15:clr>
            <a:srgbClr val="F26B43"/>
          </p15:clr>
        </p15:guide>
        <p15:guide id="24" pos="6792" userDrawn="1">
          <p15:clr>
            <a:srgbClr val="F26B43"/>
          </p15:clr>
        </p15:guide>
        <p15:guide id="25" pos="6936" userDrawn="1">
          <p15:clr>
            <a:srgbClr val="F26B43"/>
          </p15:clr>
        </p15:guide>
        <p15:guide id="26" pos="7392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8" userDrawn="1">
          <p15:clr>
            <a:srgbClr val="F26B43"/>
          </p15:clr>
        </p15:guide>
        <p15:guide id="30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4965" y="1684431"/>
            <a:ext cx="9201845" cy="770446"/>
          </a:xfrm>
        </p:spPr>
        <p:txBody>
          <a:bodyPr/>
          <a:lstStyle/>
          <a:p>
            <a:r>
              <a:rPr dirty="0"/>
              <a:t>AIDLC 4 — Benchmarks, Quality &amp; ROI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Measuring AI-built software honestly · CPSC 490 · Fall 2026 · Week 4 of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00244E"/>
                </a:solidFill>
              </a:rPr>
              <a:t>Kyoung Shin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89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SVP Enterprise Data Strategy and Infrastructure, CMG Financial · Cofounder/CTO, SonarX · Adjunct Faculty, CSUF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Today, in two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Hour 1 — model benchmarking done properly: workload categories, judges that can't cheat, determinism as the core quality metric, and what two real benchmark rounds found.</a:t>
            </a:r>
          </a:p>
          <a:p>
            <a:r>
              <a:rPr sz="1600"/>
              <a:t>Break (10 min).</a:t>
            </a:r>
          </a:p>
          <a:p>
            <a:r>
              <a:rPr sz="1600"/>
              <a:t>Hour 2 — measuring the SYSTEM: Goodhart-resistant metrics, pre-registration, the honest ROI ledger — and the metrics plan for your capstone.</a:t>
            </a:r>
          </a:p>
          <a:p>
            <a:r>
              <a:rPr sz="1600"/>
              <a:t>Exercise: pre-register your project's predictions, four weeks 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benchmark at 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Vendor leaderboards rank models on generic exams. Your workloads are not generic exams.</a:t>
            </a:r>
          </a:p>
          <a:p>
            <a:r>
              <a:rPr sz="1500"/>
              <a:t>Production finding, replicated across two benchmark rounds five weeks apart: NO MODEL WINS EVERYWHERE.</a:t>
            </a:r>
          </a:p>
          <a:p>
            <a:r>
              <a:rPr sz="1500"/>
              <a:t>July: the best chat/review model (GLM) was dead LAST as an operator. August: the new frontier model (Opus 5) topped conversation quality — and underperformed at the operator role too.</a:t>
            </a:r>
          </a:p>
          <a:p>
            <a:r>
              <a:rPr sz="1500"/>
              <a:t>Routing beats loyalty: per-workload model choice cut costs ~60% with equal-or-better quality. But you can only route what you've measured.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FINDING #1, TWICE CONFIRMED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Elite reviewer, terrible operator — the same model, the same week. A single 'best model' is a category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Benchmark design: fixtures from REAL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Category per workload: conversation, spec-writing, code review, implementation, autonomous work sessions, operator judgment — because winners differ per category.</a:t>
            </a:r>
          </a:p>
          <a:p>
            <a:r>
              <a:rPr sz="1600"/>
              <a:t>Fixtures are REPLAYS of production: real staging conversations, real incident scenarios with known ground truth, real diffs with REAL seeded defects from past outages.</a:t>
            </a:r>
          </a:p>
          <a:p>
            <a:r>
              <a:rPr sz="1600"/>
              <a:t>Review scoring is mechanical where possible: recall of seeded defects, verdict correctness, false-positive penalty — vibes can't grade recall.</a:t>
            </a:r>
          </a:p>
          <a:p>
            <a:r>
              <a:rPr sz="1600"/>
              <a:t>Cost measured from the billing API's actuals, never estimated. (An estimator that bills every model at premium rates once distorted a whole comparison.)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Judging without cheating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LLM judge panel: two judges from DIFFERENT vendors, scoring comparatively across anonymized, seed-shuffled responses.</a:t>
            </a:r>
          </a:p>
          <a:p>
            <a:r>
              <a:rPr sz="1600"/>
              <a:t>A judge must NEVER score a pool containing itself — when a judge becomes a candidate, swap the panel.</a:t>
            </a:r>
          </a:p>
          <a:p>
            <a:r>
              <a:rPr sz="1600"/>
              <a:t>Comparative + anonymized beats absolute scoring: models can't be flattered by their own style, and 'use the full 1–10 range' fights score compression.</a:t>
            </a:r>
          </a:p>
          <a:p>
            <a:r>
              <a:rPr sz="1600"/>
              <a:t>Class-scale version: two teammates blind-rank outputs A/B/C from three prompts. Same principle, zero budget.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Determinism: the quality metric that matters most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IMPLEMENTATION QUALITY ≠ BRILLIANCE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3×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same real issue, three independent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0.96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top implementer determinism (file-set overlap + line similarity + behavioral equivalence)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0.85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premium generalist on the same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681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0.33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681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worst case: 3 runs, 3 different architectures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A worker who gives you a DIFFERENT answer every time is a review burden, not an asset. Consistency is what makes autonomy affordable — this is the course's core quality thesis.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Method: run-determinism-eval — graded T/M/M+ fixtures; August round: fresh fixtures, same protocol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benchmark rounds, five weeks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JULY VS AUGUST — WHY YOU RE-MEASURE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July round (13 models, ~$92)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Conversation → GLM-5.2 at 1/5 the incumbent's price (incumbent scored LAST tier)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Implementation → GPT-5.3-Codex: determinism 0.95 at ~1/10 the premium cost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Operator → premium Anthropic models; GLM dead last (same model, elite at review!)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Adopted: per-workload routing across the whole org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August refresh (new releases)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GPT-5.6-terra: beat the spec incumbent at 1/3 cost AND the implement incumbent on determinism (0.879 vs 0.856)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Opus 5: quality ceiling for chat (9.1) — but 8× terra's price, and weak as operator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Review + operator + wakes: incumbents HELD — no change is also a finding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Total refresh cost: ~$75. Cadence: re-benchmark when the market moves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Full tables: docs/plan/model-benchmark-2026-07.md and -2026-08.md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metrics: beyond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Cost per delivered PR: $5.47 → $2.39 over July (routing + caching + budget governors). The trend line matters more than the point.</a:t>
            </a:r>
          </a:p>
          <a:p>
            <a:r>
              <a:rPr sz="1600"/>
              <a:t>Containment N: attempts per merged PR (how often the loop needs retries) — and A%, the share merged first-try. Infra flakiness inflates N; know your confounders before blaming the models.</a:t>
            </a:r>
          </a:p>
          <a:p>
            <a:r>
              <a:rPr sz="1600"/>
              <a:t>Knowledge health: are agents writing lessons other agents reuse? (Organic shared-memory writes: 0 → 116 in five weeks; duplication rate as the counter-signal.)</a:t>
            </a:r>
          </a:p>
          <a:p>
            <a:r>
              <a:rPr sz="1600"/>
              <a:t>Every metric gets a ledger, every ledger gets a trend, every anomaly gets a root cause before a conclusion.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Measuring the RIGHT thing: the Goodhart instrument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LECTURE 1'S FAILURE, AS A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288 vs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July: harness touches vs player-visible touches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contract modules the served page imported,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5/wk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served-surface features merged, week 1 post-correction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681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681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no-op consumers (the counter-metric) — nobody gamed the new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surface-delta classifies every merged file-touch: served page / module / harness / docs. One script, one honest answer to 'did the product move?' — run monthly.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Pair EVERY target metric with the metric that detects gaming it. Always.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2973B6"/>
                </a:solidFill>
              </a:rPr>
              <a:t>Break —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4A6076"/>
                </a:solidFill>
              </a:rPr>
              <a:t>Hour 2: pre-registration, the honest ROI ledger, and your capstone's metrics plan.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Pre-registration: commit to predictions BEFORE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The August window (docs/plan/aidlc-august-window.md): five numeric predictions written down Aug 1, verdict dates fixed, instruments named — BEFORE the treatment could produce data.</a:t>
            </a:r>
          </a:p>
          <a:p>
            <a:r>
              <a:rPr sz="1600"/>
              <a:t>Predictions: wired contracts 0→≥3, ≥50% of merges touch the served surface, attempts-per-merge falls below 3.3, cost/PR ≤ $3, knowledge-duplication stops rising.</a:t>
            </a:r>
          </a:p>
          <a:p>
            <a:r>
              <a:rPr sz="1600"/>
              <a:t>Mid-window honesty (Aug 10): 2 on-track, 2 off-track, 1 pending. OFF-TRACK STAYS IN THE REPORT.</a:t>
            </a:r>
          </a:p>
          <a:p>
            <a:r>
              <a:rPr sz="1600"/>
              <a:t>Why it works: you cannot cherry-pick metrics after the fact; threats-to-validity are named in advance; a skeptic can check every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BORROWED FROM SCIENCE, BADLY NEEDED IN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honest ROI ledger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WHERE THE TOKENS ACTUALLY WENT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2973B6"/>
                </a:solidFill>
              </a:rPr>
              <a:t>$2.39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per delivered PR — the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700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~$8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one PR's cost after a harness BUG refused every merge (bug-tax, not model-tax)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5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~60–80¢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5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per retraction cycle: module written, blocked by rule,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6819" y="2103120"/>
            <a:ext cx="25374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FF7900"/>
                </a:solidFill>
              </a:rPr>
              <a:t>~15/wk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6819" y="2907791"/>
            <a:ext cx="25374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A6076"/>
                </a:solidFill>
              </a:rPr>
              <a:t>silent worker deaths — each a wasted session slot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54864" cy="128016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Waste concentrates in the HARNESS, not the model — which is good news: harness bugs are fixable, and each fix is permanent. The ledger names every waste class and its fix.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4A6076"/>
                </a:solidFill>
              </a:rPr>
              <a:t>This slide is what makes the $2.39 believable.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= throughput ×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Throughput (PRs, features, tokens→output) scales with spend. It is rentable, boring, and real.</a:t>
            </a:r>
          </a:p>
          <a:p>
            <a:r>
              <a:rPr sz="1500"/>
              <a:t>Direction (does the output matter?) comes from Definitions of Done, gates, incentive design — the h-term: rare human decisions with enormous weight.</a:t>
            </a:r>
          </a:p>
          <a:p>
            <a:r>
              <a:rPr sz="1500"/>
              <a:t>July: high throughput × wrong direction ≈ zero value. August: same throughput × corrected direction = a game you can actually touch.</a:t>
            </a:r>
          </a:p>
          <a:p>
            <a:r>
              <a:rPr sz="1500"/>
              <a:t>When someone shows you an AI productivity number, ask what the DIRECTION term was. That question is your competitive advantage.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THE COURSE'S ONE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74920"/>
            <a:ext cx="54864" cy="1143000"/>
          </a:xfrm>
          <a:prstGeom prst="rect">
            <a:avLst/>
          </a:prstGeom>
          <a:solidFill>
            <a:srgbClr val="2973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074920"/>
            <a:ext cx="10424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One human evening redirected two months of machine momentum. Measure both factors, or you've measured nothing.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AIDLC wins — and when it loses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TASK-PROFILE HONESTY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Wins (use the machine)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Parallelizable, well-specified tasks with machine-checkable 'done'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High-volume maintenance: tests, migrations, dependency hygiene, docs sync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Anything a red-green gate can verify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24/7 operation where latency-to-fix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00200"/>
            <a:ext cx="5394960" cy="4480560"/>
          </a:xfrm>
          <a:prstGeom prst="rect">
            <a:avLst/>
          </a:prstGeom>
          <a:solidFill>
            <a:srgbClr val="E3EEF7"/>
          </a:solidFill>
          <a:ln>
            <a:solidFill>
              <a:srgbClr val="8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783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973B6"/>
                </a:solidFill>
              </a:rPr>
              <a:t>Loses (keep the human)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Novel product taste and design judgment — the game's STORY is still the hard part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Under-specified goals (it will optimize your typo, literally)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One-off small projects — harness cost never amortizes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00244E"/>
                </a:solidFill>
              </a:rPr>
              <a:t>•  Anything where a wrong answer is expensive and verification is subjective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evidence (bring your phone)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game.oodim.com — AFTERSIGN: play the slice; the NPC greets returning players from durable memory. Every line of it machine-written, machine-reviewed, machine-merged.</a:t>
            </a:r>
          </a:p>
          <a:p>
            <a:r>
              <a:rPr sz="1600"/>
              <a:t>oodim.com/about/aidlc — the honest ledger, including the July failure and its correction, with a public correction note where we overstated a claim.</a:t>
            </a:r>
          </a:p>
          <a:p>
            <a:r>
              <a:rPr sz="1600"/>
              <a:t>The August-window doc — pre-registered predictions with their mid-window verdicts, on-track and off.</a:t>
            </a:r>
          </a:p>
          <a:p>
            <a:r>
              <a:rPr sz="1600"/>
              <a:t>Nothing you saw in these four lectures is hypothetical. That is the standard your capstone reports should aim 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2973B6"/>
                </a:solidFill>
              </a:rPr>
              <a:t>SEE FOR YOURSELF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for YOUR capstone (required by the syllabus, useful for life)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Pick 3 metrics + 1 counter-metric: e.g., features shipped per week + 'features a user can actually reach' (your surface-delta); test coverage + 'tests that catch a deliberate break' (your red-green).</a:t>
            </a:r>
          </a:p>
          <a:p>
            <a:r>
              <a:rPr sz="1600"/>
              <a:t>Keep an AI-usage ledger in the repo: what the AI did, what it cost (time or dollars), what you fixed by hand — this feeds your AI Usage appendix honestly.</a:t>
            </a:r>
          </a:p>
          <a:p>
            <a:r>
              <a:rPr sz="1600"/>
              <a:t>Trend beats snapshot: measure weekly, plot, annotate the interventions ('week 5: rewrote the prompt').</a:t>
            </a:r>
          </a:p>
          <a:p>
            <a:r>
              <a:rPr sz="1600"/>
              <a:t>Your final report's evaluation section = this, executed. The habit is worth more than the grade.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In-class exercise — pre-register your project's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Write FIVE numeric predictions about your project's next four weeks (e.g., 'prototype v1 supports 3 of 5 core flows by week 8', 'AI-assisted PRs need ≤2 review rounds on average').</a:t>
            </a:r>
          </a:p>
          <a:p>
            <a:r>
              <a:rPr sz="1600"/>
              <a:t>For each: the instrument (HOW you'll measure), the verdict date, and one threat to validity.</a:t>
            </a:r>
          </a:p>
          <a:p>
            <a:r>
              <a:rPr sz="1600"/>
              <a:t>Add ONE counter-metric: how would you detect your team gaming its own numbers?</a:t>
            </a:r>
          </a:p>
          <a:p>
            <a:r>
              <a:rPr sz="1600"/>
              <a:t>Commit it to your repo as docs/predictions.md. You will grade yourselves against it in week 8 — verdicts, either way, in the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7900"/>
                </a:solidFill>
              </a:rPr>
              <a:t>HANDS-ON · 25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94960"/>
            <a:ext cx="54864" cy="9144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0" i="1">
                <a:solidFill>
                  <a:srgbClr val="00244E"/>
                </a:solidFill>
              </a:rPr>
              <a:t>Deliverable: docs/predictions.md committed before next class — it becomes your report's evaluation backbone.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four lectures, one arc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600"/>
              <a:t>Week 1: autonomy is a per-decision design choice; humans supply direction (the h-term), machines supply throughput.</a:t>
            </a:r>
          </a:p>
          <a:p>
            <a:r>
              <a:rPr sz="1600"/>
              <a:t>Week 2: prompts are context windows with contracts — and collectively, they're your project's incentive economy.</a:t>
            </a:r>
          </a:p>
          <a:p>
            <a:r>
              <a:rPr sz="1600"/>
              <a:t>Week 3: reliability is the harness — gates, owned states, ladders, and alarms that turn silence into action.</a:t>
            </a:r>
          </a:p>
          <a:p>
            <a:r>
              <a:rPr sz="1600"/>
              <a:t>Week 4: measure honestly — real fixtures, judges that can't cheat, pre-registered predictions, and an ROI ledger with the waste left in.</a:t>
            </a:r>
          </a:p>
          <a:p>
            <a:r>
              <a:rPr sz="1600"/>
              <a:t>Now go build. Your proposal + prototype v0 is due Sep 27 — and you know exactly how to run the machine.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SUF">
      <a:dk1>
        <a:srgbClr val="00244E"/>
      </a:dk1>
      <a:lt1>
        <a:srgbClr val="FFFFFF"/>
      </a:lt1>
      <a:dk2>
        <a:srgbClr val="222222"/>
      </a:dk2>
      <a:lt2>
        <a:srgbClr val="EBEBEB"/>
      </a:lt2>
      <a:accent1>
        <a:srgbClr val="00244E"/>
      </a:accent1>
      <a:accent2>
        <a:srgbClr val="2973B6"/>
      </a:accent2>
      <a:accent3>
        <a:srgbClr val="8ACCE4"/>
      </a:accent3>
      <a:accent4>
        <a:srgbClr val="FF7900"/>
      </a:accent4>
      <a:accent5>
        <a:srgbClr val="EDA941"/>
      </a:accent5>
      <a:accent6>
        <a:srgbClr val="F3CD47"/>
      </a:accent6>
      <a:hlink>
        <a:srgbClr val="99B3B9"/>
      </a:hlink>
      <a:folHlink>
        <a:srgbClr val="DF6436"/>
      </a:folHlink>
    </a:clrScheme>
    <a:fontScheme name="CSUF-Theme-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SUF-PPT-1-A.potx" id="{E13FE947-1374-4EFE-A238-7BFC20D6E167}" vid="{777727EA-B4F9-40AF-8260-CC2A141DB6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CSUF-PPT-1-A</Template>
  <TotalTime>98</TotalTime>
  <Words>1945</Words>
  <Application>Microsoft Office PowerPoint</Application>
  <PresentationFormat>Widescreen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AIDLC 4 — Benchmarks, Quality &amp; ROI</vt:lpstr>
      <vt:lpstr>Today, in two hours</vt:lpstr>
      <vt:lpstr>Why benchmark at all</vt:lpstr>
      <vt:lpstr>Benchmark design: fixtures from REAL work</vt:lpstr>
      <vt:lpstr>Judging without cheating</vt:lpstr>
      <vt:lpstr>Determinism: the quality metric that matters most</vt:lpstr>
      <vt:lpstr>Two benchmark rounds, five weeks apart</vt:lpstr>
      <vt:lpstr>System metrics: beyond the model</vt:lpstr>
      <vt:lpstr>Measuring the RIGHT thing: the Goodhart instrument</vt:lpstr>
      <vt:lpstr>PowerPoint Presentation</vt:lpstr>
      <vt:lpstr>Pre-registration: commit to predictions BEFORE the data</vt:lpstr>
      <vt:lpstr>The honest ROI ledger</vt:lpstr>
      <vt:lpstr>ROI = throughput × direction</vt:lpstr>
      <vt:lpstr>When AIDLC wins — and when it loses</vt:lpstr>
      <vt:lpstr>Live evidence (bring your phone)</vt:lpstr>
      <vt:lpstr>Metrics for YOUR capstone (required by the syllabus, useful for life)</vt:lpstr>
      <vt:lpstr>In-class exercise — pre-register your project's predictions</vt:lpstr>
      <vt:lpstr>The four lectures, one arc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Kyoung Seop Shin</dc:creator>
  <cp:lastModifiedBy>Kyoung Seop Shin</cp:lastModifiedBy>
  <cp:revision>27</cp:revision>
  <cp:lastPrinted>2023-01-31T22:42:47Z</cp:lastPrinted>
  <dcterms:created xsi:type="dcterms:W3CDTF">2026-03-14T10:11:27Z</dcterms:created>
  <dcterms:modified xsi:type="dcterms:W3CDTF">2026-08-10T18:28:48Z</dcterms:modified>
</cp:coreProperties>
</file>